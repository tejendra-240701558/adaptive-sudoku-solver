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70caff3-ca1b-5ece-0db2-864ef9db4a0c}">
          <p14:sldIdLst>
            <p14:sldId id="256"/>
            <p14:sldId id="257"/>
            <p14:sldId id="258"/>
            <p14:sldId id="259"/>
          </p14:sldIdLst>
        </p14:section>
        <p14:section name="Method" id="{cb16b073-ff97-caeb-ff1f-f17efeb2385f}">
          <p14:sldIdLst>
            <p14:sldId id="260"/>
            <p14:sldId id="261"/>
            <p14:sldId id="262"/>
            <p14:sldId id="263"/>
          </p14:sldIdLst>
        </p14:section>
        <p14:section name="Evaluation" id="{5774b379-2dcb-e72d-c9b5-bc9acc70806e}">
          <p14:sldIdLst>
            <p14:sldId id="264"/>
            <p14:sldId id="265"/>
            <p14:sldId id="266"/>
          </p14:sldIdLst>
        </p14:section>
        <p14:section name="Conclusion" id="{39491116-a956-febb-0a6c-ba73988deb1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AI-based solver that chooses and switches between three established strategies. Fill in your details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Sudoku is a CSP: 81 variables, domain 1-9, all-different constraints over rows, columns and 3x3 boxes. Puzzles differ in empty cells, forced moves and candidate spread, so one fixed strategy is not equally suitable for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is standard 9x9 Sudoku, combining existing AI techniques rather than inventing a new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 work covers individual techniques and some hybrids (e.g. constraint programming with iterated local search). The gap, as framed in the report, is limited explicit adaptation from measurable puzzle features and solving progress. This is an opportunity to investigate, not a claim of a new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is a loop: after each strategy run the controller compares empty-cell counts; if the count dropped it re-analyzes and re-selects, otherwise it switches in the fixed order CP, MRV, Min-Conflicts, skipping tried strategies. Verification is is_valid() plus no empty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Constraint Propagation here means naked singles only. MRV picks the empty cell with fewest candidates and backtracks. Min-Conflicts is local search with random initial fill (seed 42). The adaptive controller decides which one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P7 (65 empty cells, 0 forced moves, avg 5.57 candidates) starts with Min-Conflicts. The 100-step trial makes no progress, so the controller switches to CP, which finds no forced cell, then to MRV, which solves it. 165 nodes = 100 trial + 65 MRV. This slide shows the mechanism working; it is not a speed claim: MRV alone solves P7 in about 0.022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Modules live in src/. validator.py also performs final verification; src/verifier.py is an unused stub.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 puzzles are project-generated (seeded script, identical to the literal dataset): permuted base solution plus random cell removal. Do not call them a published standard. Min-Conflicts budget in the benchmark: 1000 steps, 1 restart, seed 42, so 0/8 means within this budget. Python 3.13.14 is from the report; confirm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Adaptive and MRV both solved 8/8. Adaptive has higher average time and nodes, reflecting overhead from analysis, selection, monitoring and switching (P7 alone is about half of adaptive total time). Timings are single-run and machine dependent. These are the finalized values from results/tables and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1 in main.py: rows are entered as 9 space-separated digits (0 = empty). Option 2 runs the P7 demo live. P9 is an additional test puzzle stored outside the benchmark; it can only be tried by typing its grid into option 1. A live run showed Min-Conflicts, CP, MRV with 2 switches, but no P9 result is stored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adaptive framework, not a new Sudoku algorithm. Future work is not implemented. The GUI item goes beyond the report and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2800" b="1" dirty="0">
                <a:solidFill>
                  <a:schemeClr val="tx2"/>
                </a:solidFill>
                <a:latin typeface="Georgia" pitchFamily="34" charset="0"/>
                <a:ea typeface="Georgia" pitchFamily="34" charset="-122"/>
                <a:cs typeface="Georg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841248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188720"/>
            <a:ext cx="7863840" cy="914400"/>
          </a:xfrm>
          <a:prstGeom prst="rect">
            <a:avLst/>
          </a:prstGeom>
          <a:noFill/>
          <a:ln/>
        </p:spPr>
        <p:txBody>
          <a:bodyPr wrap="square" lIns="0" tIns="0" rIns="0" bIns="0" rtlCol="0" anchor="ctr"/>
          <a:lstStyle/>
          <a:p>
            <a:pPr indent="0" marL="0">
              <a:buNone/>
            </a:pPr>
            <a:r>
              <a:rPr lang="en-US" sz="4200" b="1" dirty="0">
                <a:solidFill>
                  <a:schemeClr val="bg1"/>
                </a:solidFill>
                <a:latin typeface="Georgia" pitchFamily="34" charset="0"/>
                <a:ea typeface="Georgia" pitchFamily="34" charset="-122"/>
                <a:cs typeface="Georgia" pitchFamily="34" charset="-120"/>
              </a:rPr>
              <a:t>Adaptive Sudoku Solver</a:t>
            </a:r>
            <a:endParaRPr lang="en-US" sz="4200" dirty="0"/>
          </a:p>
        </p:txBody>
      </p:sp>
      <p:sp>
        <p:nvSpPr>
          <p:cNvPr id="3" name="Text 1"/>
          <p:cNvSpPr txBox="1"/>
          <p:nvPr/>
        </p:nvSpPr>
        <p:spPr>
          <a:xfrm>
            <a:off x="640080" y="2103120"/>
            <a:ext cx="7863840" cy="457200"/>
          </a:xfrm>
          <a:prstGeom prst="rect">
            <a:avLst/>
          </a:prstGeom>
          <a:noFill/>
          <a:ln/>
        </p:spPr>
        <p:txBody>
          <a:bodyPr wrap="square" lIns="0" tIns="0" rIns="0" bIns="0" rtlCol="0" anchor="ctr"/>
          <a:lstStyle/>
          <a:p>
            <a:pPr indent="0" marL="0">
              <a:buNone/>
            </a:pPr>
            <a:r>
              <a:rPr lang="en-US" sz="1800" dirty="0">
                <a:solidFill>
                  <a:schemeClr val="accent2"/>
                </a:solidFill>
              </a:rPr>
              <a:t>Adaptive strategy selection and switching for Sudoku as a CSP</a:t>
            </a:r>
            <a:endParaRPr lang="en-US" sz="1800" dirty="0"/>
          </a:p>
        </p:txBody>
      </p:sp>
      <p:sp>
        <p:nvSpPr>
          <p:cNvPr id="4" name="Text 2"/>
          <p:cNvSpPr txBox="1"/>
          <p:nvPr/>
        </p:nvSpPr>
        <p:spPr>
          <a:xfrm>
            <a:off x="640080" y="2743200"/>
            <a:ext cx="7863840" cy="365760"/>
          </a:xfrm>
          <a:prstGeom prst="rect">
            <a:avLst/>
          </a:prstGeom>
          <a:noFill/>
          <a:ln/>
        </p:spPr>
        <p:txBody>
          <a:bodyPr wrap="square" lIns="0" tIns="0" rIns="0" bIns="0" rtlCol="0" anchor="ctr"/>
          <a:lstStyle/>
          <a:p>
            <a:pPr indent="0" marL="0">
              <a:buNone/>
            </a:pPr>
            <a:r>
              <a:rPr lang="en-US" sz="1600" dirty="0">
                <a:solidFill>
                  <a:schemeClr val="bg1"/>
                </a:solidFill>
              </a:rPr>
              <a:t>Foundations of Artificial Intelligence</a:t>
            </a:r>
            <a:endParaRPr lang="en-US" sz="1600" dirty="0"/>
          </a:p>
        </p:txBody>
      </p:sp>
      <p:sp>
        <p:nvSpPr>
          <p:cNvPr id="5" name="Text 3"/>
          <p:cNvSpPr txBox="1"/>
          <p:nvPr/>
        </p:nvSpPr>
        <p:spPr>
          <a:xfrm>
            <a:off x="640080" y="3429000"/>
            <a:ext cx="7863840" cy="1097280"/>
          </a:xfrm>
          <a:prstGeom prst="rect">
            <a:avLst/>
          </a:prstGeom>
          <a:noFill/>
          <a:ln/>
        </p:spPr>
        <p:txBody>
          <a:bodyPr wrap="square" lIns="0" tIns="0" rIns="0" bIns="0" rtlCol="0" anchor="ctr"/>
          <a:lstStyle/>
          <a:p>
            <a:pPr indent="0" marL="0">
              <a:spcAft>
                <a:spcPts val="300"/>
              </a:spcAft>
              <a:buNone/>
            </a:pPr>
            <a:r>
              <a:rPr lang="en-US" sz="1400" dirty="0">
                <a:solidFill>
                  <a:schemeClr val="bg1"/>
                </a:solidFill>
              </a:rPr>
              <a:t>Name: Tejendra Chapai</a:t>
            </a:r>
            <a:endParaRPr lang="en-US" sz="1400" dirty="0"/>
          </a:p>
          <a:p>
            <a:pPr indent="0" marL="0">
              <a:spcAft>
                <a:spcPts val="300"/>
              </a:spcAft>
              <a:buNone/>
            </a:pPr>
            <a:r>
              <a:rPr lang="en-US" sz="1400" dirty="0">
                <a:solidFill>
                  <a:schemeClr val="bg1"/>
                </a:solidFill>
              </a:rPr>
              <a:t>Register Number: 240701558</a:t>
            </a:r>
            <a:endParaRPr lang="en-US" sz="1400" dirty="0"/>
          </a:p>
          <a:p>
            <a:pPr indent="0" marL="0">
              <a:spcAft>
                <a:spcPts val="300"/>
              </a:spcAft>
              <a:buNone/>
            </a:pPr>
            <a:r>
              <a:rPr lang="en-US" sz="1400" dirty="0">
                <a:solidFill>
                  <a:schemeClr val="bg1"/>
                </a:solidFill>
              </a:rPr>
              <a:t>Department: CSE</a:t>
            </a:r>
            <a:endParaRPr lang="en-US" sz="1400" dirty="0"/>
          </a:p>
          <a:p>
            <a:pPr indent="0" marL="0">
              <a:spcAft>
                <a:spcPts val="300"/>
              </a:spcAft>
              <a:buNone/>
            </a:pPr>
            <a:r>
              <a:rPr lang="en-US" sz="1400" dirty="0">
                <a:solidFill>
                  <a:schemeClr val="bg1"/>
                </a:solidFill>
              </a:rPr>
              <a:t>College: Rajalakshmi Engineering College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Georgia" pitchFamily="34" charset="0"/>
                <a:ea typeface="Georgia" pitchFamily="34" charset="-122"/>
                <a:cs typeface="Georgia" pitchFamily="34" charset="-120"/>
              </a:rPr>
              <a:t>Problem Statement</a:t>
            </a:r>
            <a:endParaRPr lang="en-US" sz="2800" dirty="0"/>
          </a:p>
        </p:txBody>
      </p:sp>
      <p:sp>
        <p:nvSpPr>
          <p:cNvPr id="4" name="Text 1"/>
          <p:cNvSpPr txBox="1"/>
          <p:nvPr/>
        </p:nvSpPr>
        <p:spPr>
          <a:xfrm>
            <a:off x="457200" y="1188720"/>
            <a:ext cx="4023360" cy="1417320"/>
          </a:xfrm>
          <a:prstGeom prst="roundRect">
            <a:avLst>
              <a:gd name="adj" fmla="val 5161"/>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700" b="1" dirty="0">
                <a:solidFill>
                  <a:schemeClr val="tx1"/>
                </a:solidFill>
              </a:rPr>
              <a:t>Sudoku as a CSP</a:t>
            </a:r>
            <a:endParaRPr lang="en-US" sz="1700" dirty="0"/>
          </a:p>
          <a:p>
            <a:pPr algn="l" indent="0" marL="0">
              <a:buNone/>
            </a:pPr>
            <a:r>
              <a:rPr lang="en-US" sz="1200" dirty="0">
                <a:solidFill>
                  <a:schemeClr val="tx1"/>
                </a:solidFill>
              </a:rPr>
              <a:t>Each of the 81 cells is a variable with domain 1–9. Constraints forbid repeated digits in any row, column or 3×3 box.</a:t>
            </a:r>
            <a:endParaRPr lang="en-US" sz="1700" dirty="0"/>
          </a:p>
        </p:txBody>
      </p:sp>
      <p:sp>
        <p:nvSpPr>
          <p:cNvPr id="5" name="Text 2"/>
          <p:cNvSpPr txBox="1"/>
          <p:nvPr/>
        </p:nvSpPr>
        <p:spPr>
          <a:xfrm>
            <a:off x="4663440" y="1188720"/>
            <a:ext cx="4023360" cy="1417320"/>
          </a:xfrm>
          <a:prstGeom prst="roundRect">
            <a:avLst>
              <a:gd name="adj" fmla="val 5161"/>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700" b="1" dirty="0">
                <a:solidFill>
                  <a:schemeClr val="tx1"/>
                </a:solidFill>
              </a:rPr>
              <a:t>Puzzles differ</a:t>
            </a:r>
            <a:endParaRPr lang="en-US" sz="1700" dirty="0"/>
          </a:p>
          <a:p>
            <a:pPr algn="l" indent="0" marL="0">
              <a:buNone/>
            </a:pPr>
            <a:r>
              <a:rPr lang="en-US" sz="1200" dirty="0">
                <a:solidFill>
                  <a:schemeClr val="tx1"/>
                </a:solidFill>
              </a:rPr>
              <a:t>Puzzles vary in empty cells, forced moves and the number of candidates per cell, so their computational difficulty differs.</a:t>
            </a:r>
            <a:endParaRPr lang="en-US" sz="1700" dirty="0"/>
          </a:p>
        </p:txBody>
      </p:sp>
      <p:sp>
        <p:nvSpPr>
          <p:cNvPr id="6" name="Text 3"/>
          <p:cNvSpPr txBox="1"/>
          <p:nvPr/>
        </p:nvSpPr>
        <p:spPr>
          <a:xfrm>
            <a:off x="457200" y="2834640"/>
            <a:ext cx="4023360" cy="1417320"/>
          </a:xfrm>
          <a:prstGeom prst="roundRect">
            <a:avLst>
              <a:gd name="adj" fmla="val 5161"/>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700" b="1" dirty="0">
                <a:solidFill>
                  <a:schemeClr val="tx1"/>
                </a:solidFill>
              </a:rPr>
              <a:t>Fixed strategies</a:t>
            </a:r>
            <a:endParaRPr lang="en-US" sz="1700" dirty="0"/>
          </a:p>
          <a:p>
            <a:pPr algn="l" indent="0" marL="0">
              <a:buNone/>
            </a:pPr>
            <a:r>
              <a:rPr lang="en-US" sz="1200" dirty="0">
                <a:solidFill>
                  <a:schemeClr val="tx1"/>
                </a:solidFill>
              </a:rPr>
              <a:t>Constraint propagation, MRV + backtracking and Min-Conflicts behave differently; one fixed technique may not suit every puzzle.</a:t>
            </a:r>
            <a:endParaRPr lang="en-US" sz="1700" dirty="0"/>
          </a:p>
        </p:txBody>
      </p:sp>
      <p:sp>
        <p:nvSpPr>
          <p:cNvPr id="7" name="Text 4"/>
          <p:cNvSpPr txBox="1"/>
          <p:nvPr/>
        </p:nvSpPr>
        <p:spPr>
          <a:xfrm>
            <a:off x="4663440" y="2834640"/>
            <a:ext cx="4023360" cy="1417320"/>
          </a:xfrm>
          <a:prstGeom prst="roundRect">
            <a:avLst>
              <a:gd name="adj" fmla="val 5161"/>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700" b="1" dirty="0">
                <a:solidFill>
                  <a:schemeClr val="tx1"/>
                </a:solidFill>
              </a:rPr>
              <a:t>Need for adaptation</a:t>
            </a:r>
            <a:endParaRPr lang="en-US" sz="1700" dirty="0"/>
          </a:p>
          <a:p>
            <a:pPr algn="l" indent="0" marL="0">
              <a:buNone/>
            </a:pPr>
            <a:r>
              <a:rPr lang="en-US" sz="1200" dirty="0">
                <a:solidFill>
                  <a:schemeClr val="tx1"/>
                </a:solidFill>
              </a:rPr>
              <a:t>Selecting a strategy from measurable puzzle features, and switching when progress stalls, motivates an adaptive solver.</a:t>
            </a:r>
            <a:endParaRPr lang="en-US" sz="1700" dirty="0"/>
          </a:p>
        </p:txBody>
      </p:sp>
      <p:sp>
        <p:nvSpPr>
          <p:cNvPr id="25" name="Slide Number Placeholder 0"/>
          <p:cNvSpPr>
            <a:spLocks noGrp="1"/>
          </p:cNvSpPr>
          <p:nvPr>
            <p:ph type="sldNum" sz="quarter" idx="4294967295"/>
          </p:nvPr>
        </p:nvSpPr>
        <p:spPr>
          <a:xfrm>
            <a:off x="841248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Georgia" pitchFamily="34" charset="0"/>
                <a:ea typeface="Georgia" pitchFamily="34" charset="-122"/>
                <a:cs typeface="Georgia" pitchFamily="34" charset="-120"/>
              </a:rPr>
              <a:t>Objectives</a:t>
            </a:r>
            <a:endParaRPr lang="en-US" sz="2800" dirty="0"/>
          </a:p>
        </p:txBody>
      </p:sp>
      <p:sp>
        <p:nvSpPr>
          <p:cNvPr id="4" name="Text 1"/>
          <p:cNvSpPr txBox="1"/>
          <p:nvPr/>
        </p:nvSpPr>
        <p:spPr>
          <a:xfrm>
            <a:off x="457200" y="128016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2"/>
          <p:cNvSpPr txBox="1"/>
          <p:nvPr/>
        </p:nvSpPr>
        <p:spPr>
          <a:xfrm>
            <a:off x="1234440" y="1143000"/>
            <a:ext cx="3246120" cy="914400"/>
          </a:xfrm>
          <a:prstGeom prst="roundRect">
            <a:avLst>
              <a:gd name="adj" fmla="val 8000"/>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500" dirty="0">
                <a:solidFill>
                  <a:schemeClr val="tx1"/>
                </a:solidFill>
              </a:rPr>
              <a:t>Model Sudoku as a CSP</a:t>
            </a:r>
            <a:endParaRPr lang="en-US" sz="1500" dirty="0"/>
          </a:p>
        </p:txBody>
      </p:sp>
      <p:sp>
        <p:nvSpPr>
          <p:cNvPr id="6" name="Text 3"/>
          <p:cNvSpPr txBox="1"/>
          <p:nvPr/>
        </p:nvSpPr>
        <p:spPr>
          <a:xfrm>
            <a:off x="4663440" y="128016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7" name="Text 4"/>
          <p:cNvSpPr txBox="1"/>
          <p:nvPr/>
        </p:nvSpPr>
        <p:spPr>
          <a:xfrm>
            <a:off x="5440680" y="1143000"/>
            <a:ext cx="3246120" cy="914400"/>
          </a:xfrm>
          <a:prstGeom prst="roundRect">
            <a:avLst>
              <a:gd name="adj" fmla="val 8000"/>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500" dirty="0">
                <a:solidFill>
                  <a:schemeClr val="tx1"/>
                </a:solidFill>
              </a:rPr>
              <a:t>Implement multiple AI solving techniques</a:t>
            </a:r>
            <a:endParaRPr lang="en-US" sz="1500" dirty="0"/>
          </a:p>
        </p:txBody>
      </p:sp>
      <p:sp>
        <p:nvSpPr>
          <p:cNvPr id="8" name="Text 5"/>
          <p:cNvSpPr txBox="1"/>
          <p:nvPr/>
        </p:nvSpPr>
        <p:spPr>
          <a:xfrm>
            <a:off x="457200" y="246888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9" name="Text 6"/>
          <p:cNvSpPr txBox="1"/>
          <p:nvPr/>
        </p:nvSpPr>
        <p:spPr>
          <a:xfrm>
            <a:off x="1234440" y="2331720"/>
            <a:ext cx="3246120" cy="914400"/>
          </a:xfrm>
          <a:prstGeom prst="roundRect">
            <a:avLst>
              <a:gd name="adj" fmla="val 8000"/>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500" dirty="0">
                <a:solidFill>
                  <a:schemeClr val="tx1"/>
                </a:solidFill>
              </a:rPr>
              <a:t>Analyze puzzle characteristics</a:t>
            </a:r>
            <a:endParaRPr lang="en-US" sz="1500" dirty="0"/>
          </a:p>
        </p:txBody>
      </p:sp>
      <p:sp>
        <p:nvSpPr>
          <p:cNvPr id="10" name="Text 7"/>
          <p:cNvSpPr txBox="1"/>
          <p:nvPr/>
        </p:nvSpPr>
        <p:spPr>
          <a:xfrm>
            <a:off x="4663440" y="246888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1" name="Text 8"/>
          <p:cNvSpPr txBox="1"/>
          <p:nvPr/>
        </p:nvSpPr>
        <p:spPr>
          <a:xfrm>
            <a:off x="5440680" y="2331720"/>
            <a:ext cx="3246120" cy="914400"/>
          </a:xfrm>
          <a:prstGeom prst="roundRect">
            <a:avLst>
              <a:gd name="adj" fmla="val 8000"/>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500" dirty="0">
                <a:solidFill>
                  <a:schemeClr val="tx1"/>
                </a:solidFill>
              </a:rPr>
              <a:t>Develop adaptive strategy selection</a:t>
            </a:r>
            <a:endParaRPr lang="en-US" sz="1500" dirty="0"/>
          </a:p>
        </p:txBody>
      </p:sp>
      <p:sp>
        <p:nvSpPr>
          <p:cNvPr id="12" name="Text 9"/>
          <p:cNvSpPr txBox="1"/>
          <p:nvPr/>
        </p:nvSpPr>
        <p:spPr>
          <a:xfrm>
            <a:off x="457200" y="365760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3" name="Text 10"/>
          <p:cNvSpPr txBox="1"/>
          <p:nvPr/>
        </p:nvSpPr>
        <p:spPr>
          <a:xfrm>
            <a:off x="1234440" y="3520440"/>
            <a:ext cx="3246120" cy="914400"/>
          </a:xfrm>
          <a:prstGeom prst="roundRect">
            <a:avLst>
              <a:gd name="adj" fmla="val 8000"/>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500" dirty="0">
                <a:solidFill>
                  <a:schemeClr val="tx1"/>
                </a:solidFill>
              </a:rPr>
              <a:t>Support strategy switching</a:t>
            </a:r>
            <a:endParaRPr lang="en-US" sz="1500" dirty="0"/>
          </a:p>
        </p:txBody>
      </p:sp>
      <p:sp>
        <p:nvSpPr>
          <p:cNvPr id="14" name="Text 11"/>
          <p:cNvSpPr txBox="1"/>
          <p:nvPr/>
        </p:nvSpPr>
        <p:spPr>
          <a:xfrm>
            <a:off x="4663440" y="365760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15" name="Text 12"/>
          <p:cNvSpPr txBox="1"/>
          <p:nvPr/>
        </p:nvSpPr>
        <p:spPr>
          <a:xfrm>
            <a:off x="5440680" y="3520440"/>
            <a:ext cx="3246120" cy="914400"/>
          </a:xfrm>
          <a:prstGeom prst="roundRect">
            <a:avLst>
              <a:gd name="adj" fmla="val 8000"/>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500" dirty="0">
                <a:solidFill>
                  <a:schemeClr val="tx1"/>
                </a:solidFill>
              </a:rPr>
              <a:t>Evaluate performance experimentally</a:t>
            </a:r>
            <a:endParaRPr lang="en-US" sz="1500" dirty="0"/>
          </a:p>
        </p:txBody>
      </p:sp>
      <p:sp>
        <p:nvSpPr>
          <p:cNvPr id="25" name="Slide Number Placeholder 0"/>
          <p:cNvSpPr>
            <a:spLocks noGrp="1"/>
          </p:cNvSpPr>
          <p:nvPr>
            <p:ph type="sldNum" sz="quarter" idx="4294967295"/>
          </p:nvPr>
        </p:nvSpPr>
        <p:spPr>
          <a:xfrm>
            <a:off x="841248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Georgia" pitchFamily="34" charset="0"/>
                <a:ea typeface="Georgia" pitchFamily="34" charset="-122"/>
                <a:cs typeface="Georgia" pitchFamily="34" charset="-120"/>
              </a:rPr>
              <a:t>Research Gap</a:t>
            </a:r>
            <a:endParaRPr lang="en-US" sz="2800" dirty="0"/>
          </a:p>
        </p:txBody>
      </p:sp>
      <p:sp>
        <p:nvSpPr>
          <p:cNvPr id="4" name="Text 1"/>
          <p:cNvSpPr txBox="1"/>
          <p:nvPr/>
        </p:nvSpPr>
        <p:spPr>
          <a:xfrm>
            <a:off x="457200" y="1188720"/>
            <a:ext cx="2560320" cy="2926080"/>
          </a:xfrm>
          <a:prstGeom prst="roundRect">
            <a:avLst>
              <a:gd name="adj" fmla="val 2857"/>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600" b="1" dirty="0">
                <a:solidFill>
                  <a:schemeClr val="tx1"/>
                </a:solidFill>
              </a:rPr>
              <a:t>Existing approaches</a:t>
            </a:r>
            <a:endParaRPr lang="en-US" sz="1600" dirty="0"/>
          </a:p>
          <a:p>
            <a:pPr algn="l" indent="0" marL="0">
              <a:buNone/>
            </a:pPr>
            <a:r>
              <a:rPr lang="en-US" sz="1300" dirty="0">
                <a:solidFill>
                  <a:schemeClr val="tx1"/>
                </a:solidFill>
              </a:rPr>
              <a:t>Backtracking</a:t>
            </a:r>
            <a:endParaRPr lang="en-US" sz="1600" dirty="0"/>
          </a:p>
          <a:p>
            <a:pPr algn="l" indent="0" marL="0">
              <a:buNone/>
            </a:pPr>
            <a:r>
              <a:rPr lang="en-US" sz="1300" dirty="0">
                <a:solidFill>
                  <a:schemeClr val="tx1"/>
                </a:solidFill>
              </a:rPr>
              <a:t>Constraint Propagation</a:t>
            </a:r>
            <a:endParaRPr lang="en-US" sz="1600" dirty="0"/>
          </a:p>
          <a:p>
            <a:pPr algn="l" indent="0" marL="0">
              <a:buNone/>
            </a:pPr>
            <a:r>
              <a:rPr lang="en-US" sz="1300" dirty="0">
                <a:solidFill>
                  <a:schemeClr val="tx1"/>
                </a:solidFill>
              </a:rPr>
              <a:t>MRV</a:t>
            </a:r>
            <a:endParaRPr lang="en-US" sz="1600" dirty="0"/>
          </a:p>
          <a:p>
            <a:pPr algn="l" indent="0" marL="0">
              <a:buNone/>
            </a:pPr>
            <a:r>
              <a:rPr lang="en-US" sz="1300" dirty="0">
                <a:solidFill>
                  <a:schemeClr val="tx1"/>
                </a:solidFill>
              </a:rPr>
              <a:t>Min-Conflicts</a:t>
            </a:r>
            <a:endParaRPr lang="en-US" sz="1600" dirty="0"/>
          </a:p>
          <a:p>
            <a:pPr algn="l" indent="0" marL="0">
              <a:buNone/>
            </a:pPr>
            <a:r>
              <a:rPr lang="en-US" sz="1300" dirty="0">
                <a:solidFill>
                  <a:schemeClr val="tx1"/>
                </a:solidFill>
              </a:rPr>
              <a:t>Hybrid methods</a:t>
            </a:r>
            <a:endParaRPr lang="en-US" sz="1600" dirty="0"/>
          </a:p>
        </p:txBody>
      </p:sp>
      <p:sp>
        <p:nvSpPr>
          <p:cNvPr id="5" name="Text 2"/>
          <p:cNvSpPr txBox="1"/>
          <p:nvPr/>
        </p:nvSpPr>
        <p:spPr>
          <a:xfrm>
            <a:off x="3291840" y="1188720"/>
            <a:ext cx="2560320" cy="2926080"/>
          </a:xfrm>
          <a:prstGeom prst="roundRect">
            <a:avLst>
              <a:gd name="adj" fmla="val 2857"/>
            </a:avLst>
          </a:prstGeom>
          <a:solidFill>
            <a:schemeClr val="bg1"/>
          </a:solidFill>
          <a:ln w="12700">
            <a:solidFill>
              <a:schemeClr val="accent4"/>
            </a:solidFill>
          </a:ln>
        </p:spPr>
        <p:txBody>
          <a:bodyPr wrap="square" lIns="101600" tIns="101600" rIns="101600" bIns="101600" rtlCol="0" anchor="ctr"/>
          <a:lstStyle/>
          <a:p>
            <a:pPr algn="l" indent="0" marL="0">
              <a:buNone/>
            </a:pPr>
            <a:r>
              <a:rPr lang="en-US" sz="1600" b="1" dirty="0">
                <a:solidFill>
                  <a:schemeClr val="tx1"/>
                </a:solidFill>
              </a:rPr>
              <a:t>Gap</a:t>
            </a:r>
            <a:endParaRPr lang="en-US" sz="1600" dirty="0"/>
          </a:p>
          <a:p>
            <a:pPr algn="l" indent="0" marL="0">
              <a:buNone/>
            </a:pPr>
            <a:r>
              <a:rPr lang="en-US" sz="1300" dirty="0">
                <a:solidFill>
                  <a:schemeClr val="tx1"/>
                </a:solidFill>
              </a:rPr>
              <a:t>Limited explicit adaptation based on measurable puzzle characteristics and real-time solving progress</a:t>
            </a:r>
            <a:endParaRPr lang="en-US" sz="1600" dirty="0"/>
          </a:p>
        </p:txBody>
      </p:sp>
      <p:sp>
        <p:nvSpPr>
          <p:cNvPr id="6" name="Text 3"/>
          <p:cNvSpPr txBox="1"/>
          <p:nvPr/>
        </p:nvSpPr>
        <p:spPr>
          <a:xfrm>
            <a:off x="6126480" y="1188720"/>
            <a:ext cx="2560320" cy="2926080"/>
          </a:xfrm>
          <a:prstGeom prst="roundRect">
            <a:avLst>
              <a:gd name="adj" fmla="val 2857"/>
            </a:avLst>
          </a:prstGeom>
          <a:solidFill>
            <a:schemeClr val="bg1"/>
          </a:solidFill>
          <a:ln w="12700">
            <a:solidFill>
              <a:schemeClr val="accent1"/>
            </a:solidFill>
          </a:ln>
        </p:spPr>
        <p:txBody>
          <a:bodyPr wrap="square" lIns="101600" tIns="101600" rIns="101600" bIns="101600" rtlCol="0" anchor="ctr"/>
          <a:lstStyle/>
          <a:p>
            <a:pPr algn="l" indent="0" marL="0">
              <a:buNone/>
            </a:pPr>
            <a:r>
              <a:rPr lang="en-US" sz="1600" b="1" dirty="0">
                <a:solidFill>
                  <a:schemeClr val="tx1"/>
                </a:solidFill>
              </a:rPr>
              <a:t>Proposed</a:t>
            </a:r>
            <a:endParaRPr lang="en-US" sz="1600" dirty="0"/>
          </a:p>
          <a:p>
            <a:pPr algn="l" indent="0" marL="0">
              <a:buNone/>
            </a:pPr>
            <a:r>
              <a:rPr lang="en-US" sz="1300" dirty="0">
                <a:solidFill>
                  <a:schemeClr val="tx1"/>
                </a:solidFill>
              </a:rPr>
              <a:t>Adaptive strategy selection + strategy switching</a:t>
            </a:r>
            <a:endParaRPr lang="en-US" sz="1600" dirty="0"/>
          </a:p>
        </p:txBody>
      </p:sp>
      <p:sp>
        <p:nvSpPr>
          <p:cNvPr id="7" name="Shape 4"/>
          <p:cNvSpPr/>
          <p:nvPr/>
        </p:nvSpPr>
        <p:spPr>
          <a:xfrm>
            <a:off x="3017520" y="2651760"/>
            <a:ext cx="274320" cy="0"/>
          </a:xfrm>
          <a:prstGeom prst="line">
            <a:avLst/>
          </a:prstGeom>
          <a:noFill/>
          <a:ln w="19050">
            <a:solidFill>
              <a:schemeClr val="accent3"/>
            </a:solidFill>
            <a:prstDash val="solid"/>
            <a:tailEnd type="triangle"/>
          </a:ln>
        </p:spPr>
      </p:sp>
      <p:sp>
        <p:nvSpPr>
          <p:cNvPr id="8" name="Shape 5"/>
          <p:cNvSpPr/>
          <p:nvPr/>
        </p:nvSpPr>
        <p:spPr>
          <a:xfrm>
            <a:off x="5852160" y="2651760"/>
            <a:ext cx="274320" cy="0"/>
          </a:xfrm>
          <a:prstGeom prst="line">
            <a:avLst/>
          </a:prstGeom>
          <a:noFill/>
          <a:ln w="19050">
            <a:solidFill>
              <a:schemeClr val="accent3"/>
            </a:solidFill>
            <a:prstDash val="solid"/>
            <a:tailEnd type="triangle"/>
          </a:ln>
        </p:spPr>
      </p:sp>
      <p:sp>
        <p:nvSpPr>
          <p:cNvPr id="25" name="Slide Number Placeholder 0"/>
          <p:cNvSpPr>
            <a:spLocks noGrp="1"/>
          </p:cNvSpPr>
          <p:nvPr>
            <p:ph type="sldNum" sz="quarter" idx="4294967295"/>
          </p:nvPr>
        </p:nvSpPr>
        <p:spPr>
          <a:xfrm>
            <a:off x="841248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Georgia" pitchFamily="34" charset="0"/>
                <a:ea typeface="Georgia" pitchFamily="34" charset="-122"/>
                <a:cs typeface="Georgia" pitchFamily="34" charset="-120"/>
              </a:rPr>
              <a:t>Proposed System / Architecture</a:t>
            </a:r>
            <a:endParaRPr lang="en-US" sz="2800" dirty="0"/>
          </a:p>
        </p:txBody>
      </p:sp>
      <p:sp>
        <p:nvSpPr>
          <p:cNvPr id="4" name="Text 1"/>
          <p:cNvSpPr txBox="1"/>
          <p:nvPr/>
        </p:nvSpPr>
        <p:spPr>
          <a:xfrm>
            <a:off x="457200" y="1051560"/>
            <a:ext cx="1828800" cy="685800"/>
          </a:xfrm>
          <a:prstGeom prst="roundRect">
            <a:avLst>
              <a:gd name="adj" fmla="val 10667"/>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200" dirty="0">
                <a:solidFill>
                  <a:schemeClr val="tx1"/>
                </a:solidFill>
              </a:rPr>
              <a:t>Sudoku Input</a:t>
            </a:r>
            <a:endParaRPr lang="en-US" sz="1200" dirty="0"/>
          </a:p>
        </p:txBody>
      </p:sp>
      <p:sp>
        <p:nvSpPr>
          <p:cNvPr id="5" name="Shape 2"/>
          <p:cNvSpPr/>
          <p:nvPr/>
        </p:nvSpPr>
        <p:spPr>
          <a:xfrm>
            <a:off x="2286000" y="1389888"/>
            <a:ext cx="320040" cy="0"/>
          </a:xfrm>
          <a:prstGeom prst="line">
            <a:avLst/>
          </a:prstGeom>
          <a:noFill/>
          <a:ln w="19050">
            <a:solidFill>
              <a:schemeClr val="accent3"/>
            </a:solidFill>
            <a:prstDash val="solid"/>
            <a:tailEnd type="triangle"/>
          </a:ln>
        </p:spPr>
      </p:sp>
      <p:sp>
        <p:nvSpPr>
          <p:cNvPr id="6" name="Text 3"/>
          <p:cNvSpPr txBox="1"/>
          <p:nvPr/>
        </p:nvSpPr>
        <p:spPr>
          <a:xfrm>
            <a:off x="2606040" y="1051560"/>
            <a:ext cx="1828800" cy="685800"/>
          </a:xfrm>
          <a:prstGeom prst="roundRect">
            <a:avLst>
              <a:gd name="adj" fmla="val 10667"/>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200" dirty="0">
                <a:solidFill>
                  <a:schemeClr val="tx1"/>
                </a:solidFill>
              </a:rPr>
              <a:t>Puzzle Validation</a:t>
            </a:r>
            <a:endParaRPr lang="en-US" sz="1200" dirty="0"/>
          </a:p>
        </p:txBody>
      </p:sp>
      <p:sp>
        <p:nvSpPr>
          <p:cNvPr id="7" name="Shape 4"/>
          <p:cNvSpPr/>
          <p:nvPr/>
        </p:nvSpPr>
        <p:spPr>
          <a:xfrm>
            <a:off x="4434840" y="1389888"/>
            <a:ext cx="320040" cy="0"/>
          </a:xfrm>
          <a:prstGeom prst="line">
            <a:avLst/>
          </a:prstGeom>
          <a:noFill/>
          <a:ln w="19050">
            <a:solidFill>
              <a:schemeClr val="accent3"/>
            </a:solidFill>
            <a:prstDash val="solid"/>
            <a:tailEnd type="triangle"/>
          </a:ln>
        </p:spPr>
      </p:sp>
      <p:sp>
        <p:nvSpPr>
          <p:cNvPr id="8" name="Text 5"/>
          <p:cNvSpPr txBox="1"/>
          <p:nvPr/>
        </p:nvSpPr>
        <p:spPr>
          <a:xfrm>
            <a:off x="4754880" y="1051560"/>
            <a:ext cx="1828800" cy="685800"/>
          </a:xfrm>
          <a:prstGeom prst="roundRect">
            <a:avLst>
              <a:gd name="adj" fmla="val 10667"/>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200" dirty="0">
                <a:solidFill>
                  <a:schemeClr val="tx1"/>
                </a:solidFill>
              </a:rPr>
              <a:t>Puzzle Analysis → Computational Profile</a:t>
            </a:r>
            <a:endParaRPr lang="en-US" sz="1200" dirty="0"/>
          </a:p>
        </p:txBody>
      </p:sp>
      <p:sp>
        <p:nvSpPr>
          <p:cNvPr id="9" name="Shape 6"/>
          <p:cNvSpPr/>
          <p:nvPr/>
        </p:nvSpPr>
        <p:spPr>
          <a:xfrm>
            <a:off x="6583680" y="1389888"/>
            <a:ext cx="320040" cy="0"/>
          </a:xfrm>
          <a:prstGeom prst="line">
            <a:avLst/>
          </a:prstGeom>
          <a:noFill/>
          <a:ln w="19050">
            <a:solidFill>
              <a:schemeClr val="accent3"/>
            </a:solidFill>
            <a:prstDash val="solid"/>
            <a:tailEnd type="triangle"/>
          </a:ln>
        </p:spPr>
      </p:sp>
      <p:sp>
        <p:nvSpPr>
          <p:cNvPr id="10" name="Text 7"/>
          <p:cNvSpPr txBox="1"/>
          <p:nvPr/>
        </p:nvSpPr>
        <p:spPr>
          <a:xfrm>
            <a:off x="6903720" y="1051560"/>
            <a:ext cx="1828800" cy="685800"/>
          </a:xfrm>
          <a:prstGeom prst="roundRect">
            <a:avLst>
              <a:gd name="adj" fmla="val 10667"/>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200" dirty="0">
                <a:solidFill>
                  <a:schemeClr val="tx1"/>
                </a:solidFill>
              </a:rPr>
              <a:t>Adaptive Strategy Selection</a:t>
            </a:r>
            <a:endParaRPr lang="en-US" sz="1200" dirty="0"/>
          </a:p>
        </p:txBody>
      </p:sp>
      <p:sp>
        <p:nvSpPr>
          <p:cNvPr id="11" name="Text 8"/>
          <p:cNvSpPr txBox="1"/>
          <p:nvPr/>
        </p:nvSpPr>
        <p:spPr>
          <a:xfrm>
            <a:off x="2148840" y="2103120"/>
            <a:ext cx="1645920" cy="548640"/>
          </a:xfrm>
          <a:prstGeom prst="roundRect">
            <a:avLst>
              <a:gd name="adj" fmla="val 13333"/>
            </a:avLst>
          </a:prstGeom>
          <a:solidFill>
            <a:schemeClr val="accent1"/>
          </a:solidFill>
          <a:ln w="12700">
            <a:solidFill>
              <a:schemeClr val="accent1"/>
            </a:solidFill>
          </a:ln>
        </p:spPr>
        <p:txBody>
          <a:bodyPr wrap="square" lIns="101600" tIns="101600" rIns="101600" bIns="101600" rtlCol="0" anchor="ctr"/>
          <a:lstStyle/>
          <a:p>
            <a:pPr algn="ctr" indent="0" marL="0">
              <a:buNone/>
            </a:pPr>
            <a:r>
              <a:rPr lang="en-US" sz="1200" dirty="0">
                <a:solidFill>
                  <a:schemeClr val="bg1"/>
                </a:solidFill>
              </a:rPr>
              <a:t>Constraint Propagation</a:t>
            </a:r>
            <a:endParaRPr lang="en-US" sz="1200" dirty="0"/>
          </a:p>
        </p:txBody>
      </p:sp>
      <p:sp>
        <p:nvSpPr>
          <p:cNvPr id="12" name="Text 9"/>
          <p:cNvSpPr txBox="1"/>
          <p:nvPr/>
        </p:nvSpPr>
        <p:spPr>
          <a:xfrm>
            <a:off x="3931920" y="2103120"/>
            <a:ext cx="1645920" cy="548640"/>
          </a:xfrm>
          <a:prstGeom prst="roundRect">
            <a:avLst>
              <a:gd name="adj" fmla="val 13333"/>
            </a:avLst>
          </a:prstGeom>
          <a:solidFill>
            <a:schemeClr val="accent1"/>
          </a:solidFill>
          <a:ln w="12700">
            <a:solidFill>
              <a:schemeClr val="accent1"/>
            </a:solidFill>
          </a:ln>
        </p:spPr>
        <p:txBody>
          <a:bodyPr wrap="square" lIns="101600" tIns="101600" rIns="101600" bIns="101600" rtlCol="0" anchor="ctr"/>
          <a:lstStyle/>
          <a:p>
            <a:pPr algn="ctr" indent="0" marL="0">
              <a:buNone/>
            </a:pPr>
            <a:r>
              <a:rPr lang="en-US" sz="1200" dirty="0">
                <a:solidFill>
                  <a:schemeClr val="bg1"/>
                </a:solidFill>
              </a:rPr>
              <a:t>MRV + Backtracking</a:t>
            </a:r>
            <a:endParaRPr lang="en-US" sz="1200" dirty="0"/>
          </a:p>
        </p:txBody>
      </p:sp>
      <p:sp>
        <p:nvSpPr>
          <p:cNvPr id="13" name="Text 10"/>
          <p:cNvSpPr txBox="1"/>
          <p:nvPr/>
        </p:nvSpPr>
        <p:spPr>
          <a:xfrm>
            <a:off x="5715000" y="2103120"/>
            <a:ext cx="1645920" cy="548640"/>
          </a:xfrm>
          <a:prstGeom prst="roundRect">
            <a:avLst>
              <a:gd name="adj" fmla="val 13333"/>
            </a:avLst>
          </a:prstGeom>
          <a:solidFill>
            <a:schemeClr val="accent1"/>
          </a:solidFill>
          <a:ln w="12700">
            <a:solidFill>
              <a:schemeClr val="accent1"/>
            </a:solidFill>
          </a:ln>
        </p:spPr>
        <p:txBody>
          <a:bodyPr wrap="square" lIns="101600" tIns="101600" rIns="101600" bIns="101600" rtlCol="0" anchor="ctr"/>
          <a:lstStyle/>
          <a:p>
            <a:pPr algn="ctr" indent="0" marL="0">
              <a:buNone/>
            </a:pPr>
            <a:r>
              <a:rPr lang="en-US" sz="1200" dirty="0">
                <a:solidFill>
                  <a:schemeClr val="bg1"/>
                </a:solidFill>
              </a:rPr>
              <a:t>Min-Conflicts</a:t>
            </a:r>
            <a:endParaRPr lang="en-US" sz="1200" dirty="0"/>
          </a:p>
        </p:txBody>
      </p:sp>
      <p:sp>
        <p:nvSpPr>
          <p:cNvPr id="14" name="Shape 11"/>
          <p:cNvSpPr/>
          <p:nvPr/>
        </p:nvSpPr>
        <p:spPr>
          <a:xfrm>
            <a:off x="7040880" y="1737360"/>
            <a:ext cx="0" cy="320040"/>
          </a:xfrm>
          <a:prstGeom prst="line">
            <a:avLst/>
          </a:prstGeom>
          <a:noFill/>
          <a:ln w="19050">
            <a:solidFill>
              <a:schemeClr val="accent3"/>
            </a:solidFill>
            <a:prstDash val="solid"/>
            <a:tailEnd type="triangle"/>
          </a:ln>
        </p:spPr>
      </p:sp>
      <p:sp>
        <p:nvSpPr>
          <p:cNvPr id="15" name="Text 12"/>
          <p:cNvSpPr txBox="1"/>
          <p:nvPr/>
        </p:nvSpPr>
        <p:spPr>
          <a:xfrm>
            <a:off x="457200" y="2240280"/>
            <a:ext cx="1645920" cy="274320"/>
          </a:xfrm>
          <a:prstGeom prst="rect">
            <a:avLst/>
          </a:prstGeom>
          <a:noFill/>
          <a:ln/>
        </p:spPr>
        <p:txBody>
          <a:bodyPr wrap="square" lIns="0" tIns="0" rIns="0" bIns="0" rtlCol="0" anchor="ctr"/>
          <a:lstStyle/>
          <a:p>
            <a:pPr indent="0" marL="0">
              <a:buNone/>
            </a:pPr>
            <a:r>
              <a:rPr lang="en-US" sz="1100" i="1" dirty="0">
                <a:solidFill>
                  <a:schemeClr val="accent3"/>
                </a:solidFill>
              </a:rPr>
              <a:t>one strategy at a time</a:t>
            </a:r>
            <a:endParaRPr lang="en-US" sz="1100" dirty="0"/>
          </a:p>
        </p:txBody>
      </p:sp>
      <p:sp>
        <p:nvSpPr>
          <p:cNvPr id="16" name="Text 13"/>
          <p:cNvSpPr txBox="1"/>
          <p:nvPr/>
        </p:nvSpPr>
        <p:spPr>
          <a:xfrm>
            <a:off x="457200" y="3200400"/>
            <a:ext cx="1828800" cy="685800"/>
          </a:xfrm>
          <a:prstGeom prst="roundRect">
            <a:avLst>
              <a:gd name="adj" fmla="val 10667"/>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200" dirty="0">
                <a:solidFill>
                  <a:schemeClr val="tx1"/>
                </a:solidFill>
              </a:rPr>
              <a:t>Progress Monitoring</a:t>
            </a:r>
            <a:endParaRPr lang="en-US" sz="1200" dirty="0"/>
          </a:p>
        </p:txBody>
      </p:sp>
      <p:sp>
        <p:nvSpPr>
          <p:cNvPr id="17" name="Shape 14"/>
          <p:cNvSpPr/>
          <p:nvPr/>
        </p:nvSpPr>
        <p:spPr>
          <a:xfrm>
            <a:off x="2286000" y="3538728"/>
            <a:ext cx="320040" cy="0"/>
          </a:xfrm>
          <a:prstGeom prst="line">
            <a:avLst/>
          </a:prstGeom>
          <a:noFill/>
          <a:ln w="19050">
            <a:solidFill>
              <a:schemeClr val="accent3"/>
            </a:solidFill>
            <a:prstDash val="solid"/>
            <a:tailEnd type="triangle"/>
          </a:ln>
        </p:spPr>
      </p:sp>
      <p:sp>
        <p:nvSpPr>
          <p:cNvPr id="18" name="Text 15"/>
          <p:cNvSpPr txBox="1"/>
          <p:nvPr/>
        </p:nvSpPr>
        <p:spPr>
          <a:xfrm>
            <a:off x="2606040" y="3200400"/>
            <a:ext cx="1828800" cy="685800"/>
          </a:xfrm>
          <a:prstGeom prst="roundRect">
            <a:avLst>
              <a:gd name="adj" fmla="val 10667"/>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200" dirty="0">
                <a:solidFill>
                  <a:schemeClr val="tx1"/>
                </a:solidFill>
              </a:rPr>
              <a:t>Strategy Switching</a:t>
            </a:r>
            <a:endParaRPr lang="en-US" sz="1200" dirty="0"/>
          </a:p>
        </p:txBody>
      </p:sp>
      <p:sp>
        <p:nvSpPr>
          <p:cNvPr id="19" name="Shape 16"/>
          <p:cNvSpPr/>
          <p:nvPr/>
        </p:nvSpPr>
        <p:spPr>
          <a:xfrm>
            <a:off x="4434840" y="3538728"/>
            <a:ext cx="320040" cy="0"/>
          </a:xfrm>
          <a:prstGeom prst="line">
            <a:avLst/>
          </a:prstGeom>
          <a:noFill/>
          <a:ln w="19050">
            <a:solidFill>
              <a:schemeClr val="accent3"/>
            </a:solidFill>
            <a:prstDash val="solid"/>
            <a:tailEnd type="triangle"/>
          </a:ln>
        </p:spPr>
      </p:sp>
      <p:sp>
        <p:nvSpPr>
          <p:cNvPr id="20" name="Text 17"/>
          <p:cNvSpPr txBox="1"/>
          <p:nvPr/>
        </p:nvSpPr>
        <p:spPr>
          <a:xfrm>
            <a:off x="4754880" y="3200400"/>
            <a:ext cx="1828800" cy="685800"/>
          </a:xfrm>
          <a:prstGeom prst="roundRect">
            <a:avLst>
              <a:gd name="adj" fmla="val 10667"/>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200" dirty="0">
                <a:solidFill>
                  <a:schemeClr val="tx1"/>
                </a:solidFill>
              </a:rPr>
              <a:t>Solution Verification</a:t>
            </a:r>
            <a:endParaRPr lang="en-US" sz="1200" dirty="0"/>
          </a:p>
        </p:txBody>
      </p:sp>
      <p:sp>
        <p:nvSpPr>
          <p:cNvPr id="21" name="Shape 18"/>
          <p:cNvSpPr/>
          <p:nvPr/>
        </p:nvSpPr>
        <p:spPr>
          <a:xfrm>
            <a:off x="6583680" y="3538728"/>
            <a:ext cx="320040" cy="0"/>
          </a:xfrm>
          <a:prstGeom prst="line">
            <a:avLst/>
          </a:prstGeom>
          <a:noFill/>
          <a:ln w="19050">
            <a:solidFill>
              <a:schemeClr val="accent3"/>
            </a:solidFill>
            <a:prstDash val="solid"/>
            <a:tailEnd type="triangle"/>
          </a:ln>
        </p:spPr>
      </p:sp>
      <p:sp>
        <p:nvSpPr>
          <p:cNvPr id="22" name="Text 19"/>
          <p:cNvSpPr txBox="1"/>
          <p:nvPr/>
        </p:nvSpPr>
        <p:spPr>
          <a:xfrm>
            <a:off x="6903720" y="3200400"/>
            <a:ext cx="1828800" cy="685800"/>
          </a:xfrm>
          <a:prstGeom prst="roundRect">
            <a:avLst>
              <a:gd name="adj" fmla="val 10667"/>
            </a:avLst>
          </a:prstGeom>
          <a:solidFill>
            <a:schemeClr val="accent5"/>
          </a:solidFill>
          <a:ln w="12700">
            <a:solidFill>
              <a:schemeClr val="accent6"/>
            </a:solidFill>
          </a:ln>
        </p:spPr>
        <p:txBody>
          <a:bodyPr wrap="square" lIns="101600" tIns="101600" rIns="101600" bIns="101600" rtlCol="0" anchor="ctr"/>
          <a:lstStyle/>
          <a:p>
            <a:pPr algn="ctr" indent="0" marL="0">
              <a:buNone/>
            </a:pPr>
            <a:r>
              <a:rPr lang="en-US" sz="1200" dirty="0">
                <a:solidFill>
                  <a:schemeClr val="bg1"/>
                </a:solidFill>
              </a:rPr>
              <a:t>Verified Solution</a:t>
            </a:r>
            <a:endParaRPr lang="en-US" sz="1200" dirty="0"/>
          </a:p>
        </p:txBody>
      </p:sp>
      <p:sp>
        <p:nvSpPr>
          <p:cNvPr id="23" name="Shape 20"/>
          <p:cNvSpPr/>
          <p:nvPr/>
        </p:nvSpPr>
        <p:spPr>
          <a:xfrm flipV="1">
            <a:off x="3017520" y="2697480"/>
            <a:ext cx="0" cy="502920"/>
          </a:xfrm>
          <a:prstGeom prst="line">
            <a:avLst/>
          </a:prstGeom>
          <a:noFill/>
          <a:ln w="19050">
            <a:solidFill>
              <a:schemeClr val="accent3"/>
            </a:solidFill>
            <a:prstDash val="solid"/>
            <a:tailEnd type="triangle"/>
          </a:ln>
        </p:spPr>
      </p:sp>
      <p:sp>
        <p:nvSpPr>
          <p:cNvPr id="24" name="Text 21"/>
          <p:cNvSpPr txBox="1"/>
          <p:nvPr/>
        </p:nvSpPr>
        <p:spPr>
          <a:xfrm>
            <a:off x="3108960" y="2788920"/>
            <a:ext cx="2377440" cy="274320"/>
          </a:xfrm>
          <a:prstGeom prst="rect">
            <a:avLst/>
          </a:prstGeom>
          <a:noFill/>
          <a:ln/>
        </p:spPr>
        <p:txBody>
          <a:bodyPr wrap="square" lIns="0" tIns="0" rIns="0" bIns="0" rtlCol="0" anchor="ctr"/>
          <a:lstStyle/>
          <a:p>
            <a:pPr indent="0" marL="0">
              <a:buNone/>
            </a:pPr>
            <a:r>
              <a:rPr lang="en-US" sz="1100" i="1" dirty="0">
                <a:solidFill>
                  <a:schemeClr val="accent4"/>
                </a:solidFill>
              </a:rPr>
              <a:t>switch / re-select and run again</a:t>
            </a:r>
            <a:endParaRPr lang="en-US" sz="1100" dirty="0"/>
          </a:p>
        </p:txBody>
      </p:sp>
      <p:sp>
        <p:nvSpPr>
          <p:cNvPr id="25" name="Slide Number Placeholder 0"/>
          <p:cNvSpPr>
            <a:spLocks noGrp="1"/>
          </p:cNvSpPr>
          <p:nvPr>
            <p:ph type="sldNum" sz="quarter" idx="4294967295"/>
          </p:nvPr>
        </p:nvSpPr>
        <p:spPr>
          <a:xfrm>
            <a:off x="841248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Georgia" pitchFamily="34" charset="0"/>
                <a:ea typeface="Georgia" pitchFamily="34" charset="-122"/>
                <a:cs typeface="Georgia" pitchFamily="34" charset="-120"/>
              </a:rPr>
              <a:t>AI Techniques</a:t>
            </a:r>
            <a:endParaRPr lang="en-US" sz="2800" dirty="0"/>
          </a:p>
        </p:txBody>
      </p:sp>
      <p:sp>
        <p:nvSpPr>
          <p:cNvPr id="4" name="Text 1"/>
          <p:cNvSpPr txBox="1"/>
          <p:nvPr/>
        </p:nvSpPr>
        <p:spPr>
          <a:xfrm>
            <a:off x="457200" y="1188720"/>
            <a:ext cx="2651760" cy="2103120"/>
          </a:xfrm>
          <a:prstGeom prst="roundRect">
            <a:avLst>
              <a:gd name="adj" fmla="val 3478"/>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600" b="1" dirty="0">
                <a:solidFill>
                  <a:schemeClr val="tx1"/>
                </a:solidFill>
              </a:rPr>
              <a:t>Constraint Propagation</a:t>
            </a:r>
            <a:endParaRPr lang="en-US" sz="1600" dirty="0"/>
          </a:p>
          <a:p>
            <a:pPr algn="l" indent="0" marL="0">
              <a:buNone/>
            </a:pPr>
            <a:r>
              <a:rPr lang="en-US" sz="1300" dirty="0">
                <a:solidFill>
                  <a:schemeClr val="tx1"/>
                </a:solidFill>
              </a:rPr>
              <a:t>Fills cells with exactly one candidate; repeats until no change (naked singles only)</a:t>
            </a:r>
            <a:endParaRPr lang="en-US" sz="1600" dirty="0"/>
          </a:p>
        </p:txBody>
      </p:sp>
      <p:sp>
        <p:nvSpPr>
          <p:cNvPr id="5" name="Text 2"/>
          <p:cNvSpPr txBox="1"/>
          <p:nvPr/>
        </p:nvSpPr>
        <p:spPr>
          <a:xfrm>
            <a:off x="3291840" y="1188720"/>
            <a:ext cx="2651760" cy="2103120"/>
          </a:xfrm>
          <a:prstGeom prst="roundRect">
            <a:avLst>
              <a:gd name="adj" fmla="val 3478"/>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600" b="1" dirty="0">
                <a:solidFill>
                  <a:schemeClr val="tx1"/>
                </a:solidFill>
              </a:rPr>
              <a:t>MRV + Backtracking</a:t>
            </a:r>
            <a:endParaRPr lang="en-US" sz="1600" dirty="0"/>
          </a:p>
          <a:p>
            <a:pPr algn="l" indent="0" marL="0">
              <a:buNone/>
            </a:pPr>
            <a:r>
              <a:rPr lang="en-US" sz="1300" dirty="0">
                <a:solidFill>
                  <a:schemeClr val="tx1"/>
                </a:solidFill>
              </a:rPr>
              <a:t>Picks the empty cell with fewest candidates; recursive search with undo</a:t>
            </a:r>
            <a:endParaRPr lang="en-US" sz="1600" dirty="0"/>
          </a:p>
        </p:txBody>
      </p:sp>
      <p:sp>
        <p:nvSpPr>
          <p:cNvPr id="6" name="Text 3"/>
          <p:cNvSpPr txBox="1"/>
          <p:nvPr/>
        </p:nvSpPr>
        <p:spPr>
          <a:xfrm>
            <a:off x="6126480" y="1188720"/>
            <a:ext cx="2651760" cy="2103120"/>
          </a:xfrm>
          <a:prstGeom prst="roundRect">
            <a:avLst>
              <a:gd name="adj" fmla="val 3478"/>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600" b="1" dirty="0">
                <a:solidFill>
                  <a:schemeClr val="tx1"/>
                </a:solidFill>
              </a:rPr>
              <a:t>Min-Conflicts</a:t>
            </a:r>
            <a:endParaRPr lang="en-US" sz="1600" dirty="0"/>
          </a:p>
          <a:p>
            <a:pPr algn="l" indent="0" marL="0">
              <a:buNone/>
            </a:pPr>
            <a:r>
              <a:rPr lang="en-US" sz="1300" dirty="0">
                <a:solidFill>
                  <a:schemeClr val="tx1"/>
                </a:solidFill>
              </a:rPr>
              <a:t>Local search: random fill, then repair the conflicted cell to minimize conflicts</a:t>
            </a:r>
            <a:endParaRPr lang="en-US" sz="1600" dirty="0"/>
          </a:p>
        </p:txBody>
      </p:sp>
      <p:sp>
        <p:nvSpPr>
          <p:cNvPr id="7" name="Text 4"/>
          <p:cNvSpPr txBox="1"/>
          <p:nvPr/>
        </p:nvSpPr>
        <p:spPr>
          <a:xfrm>
            <a:off x="457200" y="3566160"/>
            <a:ext cx="8229600" cy="731520"/>
          </a:xfrm>
          <a:prstGeom prst="roundRect">
            <a:avLst>
              <a:gd name="adj" fmla="val 10000"/>
            </a:avLst>
          </a:prstGeom>
          <a:solidFill>
            <a:schemeClr val="tx2"/>
          </a:solidFill>
          <a:ln w="12700">
            <a:solidFill>
              <a:schemeClr val="tx2"/>
            </a:solidFill>
          </a:ln>
        </p:spPr>
        <p:txBody>
          <a:bodyPr wrap="square" lIns="101600" tIns="101600" rIns="101600" bIns="101600" rtlCol="0" anchor="ctr"/>
          <a:lstStyle/>
          <a:p>
            <a:pPr algn="ctr" indent="0" marL="0">
              <a:buNone/>
            </a:pPr>
            <a:r>
              <a:rPr lang="en-US" sz="1500" dirty="0">
                <a:solidFill>
                  <a:schemeClr val="bg1"/>
                </a:solidFill>
              </a:rPr>
              <a:t>Adaptive controller: profiles the puzzle, selects the strategy, monitors progress, switches if needed</a:t>
            </a:r>
            <a:endParaRPr lang="en-US" sz="1500" dirty="0"/>
          </a:p>
        </p:txBody>
      </p:sp>
      <p:sp>
        <p:nvSpPr>
          <p:cNvPr id="25" name="Slide Number Placeholder 0"/>
          <p:cNvSpPr>
            <a:spLocks noGrp="1"/>
          </p:cNvSpPr>
          <p:nvPr>
            <p:ph type="sldNum" sz="quarter" idx="4294967295"/>
          </p:nvPr>
        </p:nvSpPr>
        <p:spPr>
          <a:xfrm>
            <a:off x="841248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Georgia" pitchFamily="34" charset="0"/>
                <a:ea typeface="Georgia" pitchFamily="34" charset="-122"/>
                <a:cs typeface="Georgia" pitchFamily="34" charset="-120"/>
              </a:rPr>
              <a:t>Adaptive Strategy Switching: P7</a:t>
            </a:r>
            <a:endParaRPr lang="en-US" sz="2800" dirty="0"/>
          </a:p>
        </p:txBody>
      </p:sp>
      <p:sp>
        <p:nvSpPr>
          <p:cNvPr id="4" name="Text 1"/>
          <p:cNvSpPr txBox="1"/>
          <p:nvPr/>
        </p:nvSpPr>
        <p:spPr>
          <a:xfrm>
            <a:off x="457200" y="1097280"/>
            <a:ext cx="2743200" cy="594360"/>
          </a:xfrm>
          <a:prstGeom prst="roundRect">
            <a:avLst>
              <a:gd name="adj" fmla="val 12308"/>
            </a:avLst>
          </a:prstGeom>
          <a:solidFill>
            <a:schemeClr val="bg1"/>
          </a:solidFill>
          <a:ln w="12700">
            <a:solidFill>
              <a:schemeClr val="accent4"/>
            </a:solidFill>
          </a:ln>
        </p:spPr>
        <p:txBody>
          <a:bodyPr wrap="square" lIns="101600" tIns="101600" rIns="101600" bIns="101600" rtlCol="0" anchor="ctr"/>
          <a:lstStyle/>
          <a:p>
            <a:pPr algn="ctr" indent="0" marL="0">
              <a:buNone/>
            </a:pPr>
            <a:r>
              <a:rPr lang="en-US" sz="1500" dirty="0">
                <a:solidFill>
                  <a:schemeClr val="tx1"/>
                </a:solidFill>
              </a:rPr>
              <a:t>Min-Conflicts</a:t>
            </a:r>
            <a:endParaRPr lang="en-US" sz="1500" dirty="0"/>
          </a:p>
        </p:txBody>
      </p:sp>
      <p:sp>
        <p:nvSpPr>
          <p:cNvPr id="5" name="Shape 2"/>
          <p:cNvSpPr/>
          <p:nvPr/>
        </p:nvSpPr>
        <p:spPr>
          <a:xfrm>
            <a:off x="1828800" y="1691640"/>
            <a:ext cx="0" cy="365760"/>
          </a:xfrm>
          <a:prstGeom prst="line">
            <a:avLst/>
          </a:prstGeom>
          <a:noFill/>
          <a:ln w="19050">
            <a:solidFill>
              <a:schemeClr val="accent3"/>
            </a:solidFill>
            <a:prstDash val="solid"/>
            <a:tailEnd type="triangle"/>
          </a:ln>
        </p:spPr>
      </p:sp>
      <p:sp>
        <p:nvSpPr>
          <p:cNvPr id="6" name="Text 3"/>
          <p:cNvSpPr txBox="1"/>
          <p:nvPr/>
        </p:nvSpPr>
        <p:spPr>
          <a:xfrm>
            <a:off x="1920240" y="1737360"/>
            <a:ext cx="1737360" cy="274320"/>
          </a:xfrm>
          <a:prstGeom prst="rect">
            <a:avLst/>
          </a:prstGeom>
          <a:noFill/>
          <a:ln/>
        </p:spPr>
        <p:txBody>
          <a:bodyPr wrap="square" lIns="0" tIns="0" rIns="0" bIns="0" rtlCol="0" anchor="ctr"/>
          <a:lstStyle/>
          <a:p>
            <a:pPr indent="0" marL="0">
              <a:buNone/>
            </a:pPr>
            <a:r>
              <a:rPr lang="en-US" sz="1100" i="1" dirty="0">
                <a:solidFill>
                  <a:schemeClr val="accent4"/>
                </a:solidFill>
              </a:rPr>
              <a:t>no progress: switch 1</a:t>
            </a:r>
            <a:endParaRPr lang="en-US" sz="1100" dirty="0"/>
          </a:p>
        </p:txBody>
      </p:sp>
      <p:sp>
        <p:nvSpPr>
          <p:cNvPr id="7" name="Text 4"/>
          <p:cNvSpPr txBox="1"/>
          <p:nvPr/>
        </p:nvSpPr>
        <p:spPr>
          <a:xfrm>
            <a:off x="457200" y="2057400"/>
            <a:ext cx="2743200" cy="594360"/>
          </a:xfrm>
          <a:prstGeom prst="roundRect">
            <a:avLst>
              <a:gd name="adj" fmla="val 12308"/>
            </a:avLst>
          </a:prstGeom>
          <a:solidFill>
            <a:schemeClr val="bg1"/>
          </a:solidFill>
          <a:ln w="12700">
            <a:solidFill>
              <a:schemeClr val="accent4"/>
            </a:solidFill>
          </a:ln>
        </p:spPr>
        <p:txBody>
          <a:bodyPr wrap="square" lIns="101600" tIns="101600" rIns="101600" bIns="101600" rtlCol="0" anchor="ctr"/>
          <a:lstStyle/>
          <a:p>
            <a:pPr algn="ctr" indent="0" marL="0">
              <a:buNone/>
            </a:pPr>
            <a:r>
              <a:rPr lang="en-US" sz="1500" dirty="0">
                <a:solidFill>
                  <a:schemeClr val="tx1"/>
                </a:solidFill>
              </a:rPr>
              <a:t>Constraint Propagation</a:t>
            </a:r>
            <a:endParaRPr lang="en-US" sz="1500" dirty="0"/>
          </a:p>
        </p:txBody>
      </p:sp>
      <p:sp>
        <p:nvSpPr>
          <p:cNvPr id="8" name="Shape 5"/>
          <p:cNvSpPr/>
          <p:nvPr/>
        </p:nvSpPr>
        <p:spPr>
          <a:xfrm>
            <a:off x="1828800" y="2651760"/>
            <a:ext cx="0" cy="365760"/>
          </a:xfrm>
          <a:prstGeom prst="line">
            <a:avLst/>
          </a:prstGeom>
          <a:noFill/>
          <a:ln w="19050">
            <a:solidFill>
              <a:schemeClr val="accent3"/>
            </a:solidFill>
            <a:prstDash val="solid"/>
            <a:tailEnd type="triangle"/>
          </a:ln>
        </p:spPr>
      </p:sp>
      <p:sp>
        <p:nvSpPr>
          <p:cNvPr id="9" name="Text 6"/>
          <p:cNvSpPr txBox="1"/>
          <p:nvPr/>
        </p:nvSpPr>
        <p:spPr>
          <a:xfrm>
            <a:off x="1920240" y="2697480"/>
            <a:ext cx="1737360" cy="274320"/>
          </a:xfrm>
          <a:prstGeom prst="rect">
            <a:avLst/>
          </a:prstGeom>
          <a:noFill/>
          <a:ln/>
        </p:spPr>
        <p:txBody>
          <a:bodyPr wrap="square" lIns="0" tIns="0" rIns="0" bIns="0" rtlCol="0" anchor="ctr"/>
          <a:lstStyle/>
          <a:p>
            <a:pPr indent="0" marL="0">
              <a:buNone/>
            </a:pPr>
            <a:r>
              <a:rPr lang="en-US" sz="1100" i="1" dirty="0">
                <a:solidFill>
                  <a:schemeClr val="accent4"/>
                </a:solidFill>
              </a:rPr>
              <a:t>no progress: switch 2</a:t>
            </a:r>
            <a:endParaRPr lang="en-US" sz="1100" dirty="0"/>
          </a:p>
        </p:txBody>
      </p:sp>
      <p:sp>
        <p:nvSpPr>
          <p:cNvPr id="10" name="Text 7"/>
          <p:cNvSpPr txBox="1"/>
          <p:nvPr/>
        </p:nvSpPr>
        <p:spPr>
          <a:xfrm>
            <a:off x="457200" y="3017520"/>
            <a:ext cx="2743200" cy="594360"/>
          </a:xfrm>
          <a:prstGeom prst="roundRect">
            <a:avLst>
              <a:gd name="adj" fmla="val 12308"/>
            </a:avLst>
          </a:prstGeom>
          <a:solidFill>
            <a:schemeClr val="accent5"/>
          </a:solidFill>
          <a:ln w="12700">
            <a:solidFill>
              <a:schemeClr val="accent5"/>
            </a:solidFill>
          </a:ln>
        </p:spPr>
        <p:txBody>
          <a:bodyPr wrap="square" lIns="101600" tIns="101600" rIns="101600" bIns="101600" rtlCol="0" anchor="ctr"/>
          <a:lstStyle/>
          <a:p>
            <a:pPr algn="ctr" indent="0" marL="0">
              <a:buNone/>
            </a:pPr>
            <a:r>
              <a:rPr lang="en-US" sz="1500" dirty="0">
                <a:solidFill>
                  <a:schemeClr val="bg1"/>
                </a:solidFill>
              </a:rPr>
              <a:t>MRV + Backtracking</a:t>
            </a:r>
            <a:endParaRPr lang="en-US" sz="1500" dirty="0"/>
          </a:p>
        </p:txBody>
      </p:sp>
      <p:sp>
        <p:nvSpPr>
          <p:cNvPr id="11" name="Text 8"/>
          <p:cNvSpPr txBox="1"/>
          <p:nvPr/>
        </p:nvSpPr>
        <p:spPr>
          <a:xfrm>
            <a:off x="457200" y="4023360"/>
            <a:ext cx="914400" cy="822960"/>
          </a:xfrm>
          <a:prstGeom prst="roundRect">
            <a:avLst>
              <a:gd name="adj" fmla="val 8889"/>
            </a:avLst>
          </a:prstGeom>
          <a:solidFill>
            <a:schemeClr val="bg1"/>
          </a:solidFill>
          <a:ln w="12700">
            <a:solidFill>
              <a:schemeClr val="accent6"/>
            </a:solidFill>
          </a:ln>
        </p:spPr>
        <p:txBody>
          <a:bodyPr wrap="square" lIns="25400" tIns="25400" rIns="25400" bIns="25400" rtlCol="0" anchor="ctr"/>
          <a:lstStyle/>
          <a:p>
            <a:pPr algn="ctr" indent="0" marL="0">
              <a:buNone/>
            </a:pPr>
            <a:r>
              <a:rPr lang="en-US" sz="2000" b="1" dirty="0">
                <a:solidFill>
                  <a:schemeClr val="accent1"/>
                </a:solidFill>
              </a:rPr>
              <a:t>65</a:t>
            </a:r>
            <a:endParaRPr lang="en-US" sz="1300" dirty="0"/>
          </a:p>
          <a:p>
            <a:pPr algn="ctr" indent="0" marL="0">
              <a:buNone/>
            </a:pPr>
            <a:r>
              <a:rPr lang="en-US" sz="1100" dirty="0">
                <a:solidFill>
                  <a:schemeClr val="tx1"/>
                </a:solidFill>
              </a:rPr>
              <a:t>empty cells</a:t>
            </a:r>
            <a:endParaRPr lang="en-US" sz="1300" dirty="0"/>
          </a:p>
        </p:txBody>
      </p:sp>
      <p:sp>
        <p:nvSpPr>
          <p:cNvPr id="12" name="Text 9"/>
          <p:cNvSpPr txBox="1"/>
          <p:nvPr/>
        </p:nvSpPr>
        <p:spPr>
          <a:xfrm>
            <a:off x="1417320" y="4023360"/>
            <a:ext cx="914400" cy="822960"/>
          </a:xfrm>
          <a:prstGeom prst="roundRect">
            <a:avLst>
              <a:gd name="adj" fmla="val 8889"/>
            </a:avLst>
          </a:prstGeom>
          <a:solidFill>
            <a:schemeClr val="bg1"/>
          </a:solidFill>
          <a:ln w="12700">
            <a:solidFill>
              <a:schemeClr val="accent6"/>
            </a:solidFill>
          </a:ln>
        </p:spPr>
        <p:txBody>
          <a:bodyPr wrap="square" lIns="25400" tIns="25400" rIns="25400" bIns="25400" rtlCol="0" anchor="ctr"/>
          <a:lstStyle/>
          <a:p>
            <a:pPr algn="ctr" indent="0" marL="0">
              <a:buNone/>
            </a:pPr>
            <a:r>
              <a:rPr lang="en-US" sz="2000" b="1" dirty="0">
                <a:solidFill>
                  <a:schemeClr val="accent1"/>
                </a:solidFill>
              </a:rPr>
              <a:t>2</a:t>
            </a:r>
            <a:endParaRPr lang="en-US" sz="1300" dirty="0"/>
          </a:p>
          <a:p>
            <a:pPr algn="ctr" indent="0" marL="0">
              <a:buNone/>
            </a:pPr>
            <a:r>
              <a:rPr lang="en-US" sz="1100" dirty="0">
                <a:solidFill>
                  <a:schemeClr val="tx1"/>
                </a:solidFill>
              </a:rPr>
              <a:t>strategy switches</a:t>
            </a:r>
            <a:endParaRPr lang="en-US" sz="1300" dirty="0"/>
          </a:p>
        </p:txBody>
      </p:sp>
      <p:sp>
        <p:nvSpPr>
          <p:cNvPr id="13" name="Text 10"/>
          <p:cNvSpPr txBox="1"/>
          <p:nvPr/>
        </p:nvSpPr>
        <p:spPr>
          <a:xfrm>
            <a:off x="2377440" y="4023360"/>
            <a:ext cx="914400" cy="822960"/>
          </a:xfrm>
          <a:prstGeom prst="roundRect">
            <a:avLst>
              <a:gd name="adj" fmla="val 8889"/>
            </a:avLst>
          </a:prstGeom>
          <a:solidFill>
            <a:schemeClr val="bg1"/>
          </a:solidFill>
          <a:ln w="12700">
            <a:solidFill>
              <a:schemeClr val="accent6"/>
            </a:solidFill>
          </a:ln>
        </p:spPr>
        <p:txBody>
          <a:bodyPr wrap="square" lIns="25400" tIns="25400" rIns="25400" bIns="25400" rtlCol="0" anchor="ctr"/>
          <a:lstStyle/>
          <a:p>
            <a:pPr algn="ctr" indent="0" marL="0">
              <a:buNone/>
            </a:pPr>
            <a:r>
              <a:rPr lang="en-US" sz="2000" b="1" dirty="0">
                <a:solidFill>
                  <a:schemeClr val="accent1"/>
                </a:solidFill>
              </a:rPr>
              <a:t>Solved</a:t>
            </a:r>
            <a:endParaRPr lang="en-US" sz="1300" dirty="0"/>
          </a:p>
          <a:p>
            <a:pPr algn="ctr" indent="0" marL="0">
              <a:buNone/>
            </a:pPr>
            <a:r>
              <a:rPr lang="en-US" sz="1100" dirty="0">
                <a:solidFill>
                  <a:schemeClr val="tx1"/>
                </a:solidFill>
              </a:rPr>
              <a:t>verified</a:t>
            </a:r>
            <a:endParaRPr lang="en-US" sz="1300" dirty="0"/>
          </a:p>
        </p:txBody>
      </p:sp>
      <p:pic>
        <p:nvPicPr>
          <p:cNvPr id="14" name="Image 0" descr="adaptive_strategy_switches.png">    </p:cNvPr>
          <p:cNvPicPr>
            <a:picLocks noChangeAspect="1"/>
          </p:cNvPicPr>
          <p:nvPr/>
        </p:nvPicPr>
        <p:blipFill>
          <a:blip r:embed="rId1"/>
          <a:stretch>
            <a:fillRect/>
          </a:stretch>
        </p:blipFill>
        <p:spPr>
          <a:xfrm>
            <a:off x="4206240" y="1097280"/>
            <a:ext cx="4480560" cy="2990088"/>
          </a:xfrm>
          <a:prstGeom prst="rect">
            <a:avLst/>
          </a:prstGeom>
        </p:spPr>
      </p:pic>
      <p:sp>
        <p:nvSpPr>
          <p:cNvPr id="15" name="Text 11"/>
          <p:cNvSpPr txBox="1"/>
          <p:nvPr/>
        </p:nvSpPr>
        <p:spPr>
          <a:xfrm>
            <a:off x="4206240" y="4160520"/>
            <a:ext cx="4480560" cy="457200"/>
          </a:xfrm>
          <a:prstGeom prst="rect">
            <a:avLst/>
          </a:prstGeom>
          <a:noFill/>
          <a:ln/>
        </p:spPr>
        <p:txBody>
          <a:bodyPr wrap="square" lIns="0" tIns="0" rIns="0" bIns="0" rtlCol="0" anchor="ctr"/>
          <a:lstStyle/>
          <a:p>
            <a:pPr indent="0" marL="0">
              <a:buNone/>
            </a:pPr>
            <a:r>
              <a:rPr lang="en-US" sz="1200" dirty="0">
                <a:solidFill>
                  <a:schemeClr val="accent3"/>
                </a:solidFill>
              </a:rPr>
              <a:t>Switches per benchmark puzzle (repository graph). P7: 165 search nodes, 4,614 conflicts.</a:t>
            </a:r>
            <a:endParaRPr lang="en-US" sz="1200" dirty="0"/>
          </a:p>
        </p:txBody>
      </p:sp>
      <p:sp>
        <p:nvSpPr>
          <p:cNvPr id="25" name="Slide Number Placeholder 0"/>
          <p:cNvSpPr>
            <a:spLocks noGrp="1"/>
          </p:cNvSpPr>
          <p:nvPr>
            <p:ph type="sldNum" sz="quarter" idx="4294967295"/>
          </p:nvPr>
        </p:nvSpPr>
        <p:spPr>
          <a:xfrm>
            <a:off x="841248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Georgia" pitchFamily="34" charset="0"/>
                <a:ea typeface="Georgia" pitchFamily="34" charset="-122"/>
                <a:cs typeface="Georgia" pitchFamily="34" charset="-120"/>
              </a:rPr>
              <a:t>Implementation: Key Modules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651760"/>
                <a:gridCol w="5577840"/>
              </a:tblGrid>
              <a:tr h="338328">
                <a:tc>
                  <a:txBody>
                    <a:bodyPr/>
                    <a:lstStyle/>
                    <a:p>
                      <a:pPr indent="0" marL="0">
                        <a:buNone/>
                      </a:pPr>
                      <a:r>
                        <a:rPr lang="en-US" sz="1100" b="1" dirty="0">
                          <a:solidFill>
                            <a:schemeClr val="bg1"/>
                          </a:solidFill>
                        </a:rPr>
                        <a:t>Module</a:t>
                      </a:r>
                      <a:endParaRPr lang="en-US" sz="11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Responsibility</a:t>
                      </a:r>
                      <a:endParaRPr lang="en-US" sz="11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338328">
                <a:tc>
                  <a:txBody>
                    <a:bodyPr/>
                    <a:lstStyle/>
                    <a:p>
                      <a:pPr indent="0" marL="0">
                        <a:buNone/>
                      </a:pPr>
                      <a:r>
                        <a:rPr lang="en-US" sz="1100" b="1" dirty="0">
                          <a:solidFill>
                            <a:schemeClr val="tx1"/>
                          </a:solidFill>
                          <a:latin typeface="Consolas" pitchFamily="34" charset="0"/>
                          <a:ea typeface="Consolas" pitchFamily="34" charset="-122"/>
                          <a:cs typeface="Consolas" pitchFamily="34" charset="-120"/>
                        </a:rPr>
                        <a:t>validator.py</a:t>
                      </a:r>
                      <a:endParaRPr lang="en-US" sz="1100" dirty="0">
                        <a:latin typeface="Consolas" charset="0"/>
                        <a:ea typeface="Consolas" charset="0"/>
                        <a:cs typeface="Consolas" charset="0"/>
                      </a:endParaRPr>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Structure, value and duplicate checks; final verification</a:t>
                      </a:r>
                      <a:endParaRPr lang="en-US" sz="11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latin typeface="Consolas" pitchFamily="34" charset="0"/>
                          <a:ea typeface="Consolas" pitchFamily="34" charset="-122"/>
                          <a:cs typeface="Consolas" pitchFamily="34" charset="-120"/>
                        </a:rPr>
                        <a:t>candidates.py</a:t>
                      </a:r>
                      <a:endParaRPr lang="en-US" sz="1100" dirty="0">
                        <a:latin typeface="Consolas" charset="0"/>
                        <a:ea typeface="Consolas" charset="0"/>
                        <a:cs typeface="Consolas" charset="0"/>
                      </a:endParaRPr>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Legal candidates per empty cell</a:t>
                      </a:r>
                      <a:endParaRPr lang="en-US" sz="11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latin typeface="Consolas" pitchFamily="34" charset="0"/>
                          <a:ea typeface="Consolas" pitchFamily="34" charset="-122"/>
                          <a:cs typeface="Consolas" pitchFamily="34" charset="-120"/>
                        </a:rPr>
                        <a:t>constraint_propagation.py</a:t>
                      </a:r>
                      <a:endParaRPr lang="en-US" sz="1100" dirty="0">
                        <a:latin typeface="Consolas" charset="0"/>
                        <a:ea typeface="Consolas" charset="0"/>
                        <a:cs typeface="Consolas" charset="0"/>
                      </a:endParaRPr>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Naked-single propagation</a:t>
                      </a:r>
                      <a:endParaRPr lang="en-US" sz="11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latin typeface="Consolas" pitchFamily="34" charset="0"/>
                          <a:ea typeface="Consolas" pitchFamily="34" charset="-122"/>
                          <a:cs typeface="Consolas" pitchFamily="34" charset="-120"/>
                        </a:rPr>
                        <a:t>mrv_solver.py</a:t>
                      </a:r>
                      <a:endParaRPr lang="en-US" sz="1100" dirty="0">
                        <a:latin typeface="Consolas" charset="0"/>
                        <a:ea typeface="Consolas" charset="0"/>
                        <a:cs typeface="Consolas" charset="0"/>
                      </a:endParaRPr>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MRV cell choice + recursive backtracking</a:t>
                      </a:r>
                      <a:endParaRPr lang="en-US" sz="11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latin typeface="Consolas" pitchFamily="34" charset="0"/>
                          <a:ea typeface="Consolas" pitchFamily="34" charset="-122"/>
                          <a:cs typeface="Consolas" pitchFamily="34" charset="-120"/>
                        </a:rPr>
                        <a:t>min_conflicts.py</a:t>
                      </a:r>
                      <a:endParaRPr lang="en-US" sz="1100" dirty="0">
                        <a:latin typeface="Consolas" charset="0"/>
                        <a:ea typeface="Consolas" charset="0"/>
                        <a:cs typeface="Consolas" charset="0"/>
                      </a:endParaRPr>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Local-search solver (seeded, restarts)</a:t>
                      </a:r>
                      <a:endParaRPr lang="en-US" sz="11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latin typeface="Consolas" pitchFamily="34" charset="0"/>
                          <a:ea typeface="Consolas" pitchFamily="34" charset="-122"/>
                          <a:cs typeface="Consolas" pitchFamily="34" charset="-120"/>
                        </a:rPr>
                        <a:t>analyzer.py</a:t>
                      </a:r>
                      <a:endParaRPr lang="en-US" sz="1100" dirty="0">
                        <a:latin typeface="Consolas" charset="0"/>
                        <a:ea typeface="Consolas" charset="0"/>
                        <a:cs typeface="Consolas" charset="0"/>
                      </a:endParaRPr>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Puzzle profile: empty cells, forced moves, candidates</a:t>
                      </a:r>
                      <a:endParaRPr lang="en-US" sz="11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latin typeface="Consolas" pitchFamily="34" charset="0"/>
                          <a:ea typeface="Consolas" pitchFamily="34" charset="-122"/>
                          <a:cs typeface="Consolas" pitchFamily="34" charset="-120"/>
                        </a:rPr>
                        <a:t>strategy_switcher.py</a:t>
                      </a:r>
                      <a:endParaRPr lang="en-US" sz="1100" dirty="0">
                        <a:latin typeface="Consolas" charset="0"/>
                        <a:ea typeface="Consolas" charset="0"/>
                        <a:cs typeface="Consolas" charset="0"/>
                      </a:endParaRPr>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Selection rule and switch order</a:t>
                      </a:r>
                      <a:endParaRPr lang="en-US" sz="11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latin typeface="Consolas" pitchFamily="34" charset="0"/>
                          <a:ea typeface="Consolas" pitchFamily="34" charset="-122"/>
                          <a:cs typeface="Consolas" pitchFamily="34" charset="-120"/>
                        </a:rPr>
                        <a:t>adaptive_solver.py</a:t>
                      </a:r>
                      <a:endParaRPr lang="en-US" sz="1100" dirty="0">
                        <a:latin typeface="Consolas" charset="0"/>
                        <a:ea typeface="Consolas" charset="0"/>
                        <a:cs typeface="Consolas" charset="0"/>
                      </a:endParaRPr>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Controller: run, monitor, switch</a:t>
                      </a:r>
                      <a:endParaRPr lang="en-US" sz="11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latin typeface="Consolas" pitchFamily="34" charset="0"/>
                          <a:ea typeface="Consolas" pitchFamily="34" charset="-122"/>
                          <a:cs typeface="Consolas" pitchFamily="34" charset="-120"/>
                        </a:rPr>
                        <a:t>metrics.py</a:t>
                      </a:r>
                      <a:endParaRPr lang="en-US" sz="1100" dirty="0">
                        <a:latin typeface="Consolas" charset="0"/>
                        <a:ea typeface="Consolas" charset="0"/>
                        <a:cs typeface="Consolas" charset="0"/>
                      </a:endParaRPr>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Time, nodes, backtracks, conflicts, switches</a:t>
                      </a:r>
                      <a:endParaRPr lang="en-US" sz="11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latin typeface="Consolas" pitchFamily="34" charset="0"/>
                          <a:ea typeface="Consolas" pitchFamily="34" charset="-122"/>
                          <a:cs typeface="Consolas" pitchFamily="34" charset="-120"/>
                        </a:rPr>
                        <a:t>user_interface.py</a:t>
                      </a:r>
                      <a:endParaRPr lang="en-US" sz="1100" dirty="0">
                        <a:latin typeface="Consolas" charset="0"/>
                        <a:ea typeface="Consolas" charset="0"/>
                        <a:cs typeface="Consolas" charset="0"/>
                      </a:endParaRPr>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Terminal 9×9 input and result display</a:t>
                      </a:r>
                      <a:endParaRPr lang="en-US" sz="11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41248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Georgia" pitchFamily="34" charset="0"/>
                <a:ea typeface="Georgia" pitchFamily="34" charset="-122"/>
                <a:cs typeface="Georgia" pitchFamily="34" charset="-120"/>
              </a:rPr>
              <a:t>Experimental Setup</a:t>
            </a:r>
            <a:endParaRPr lang="en-US" sz="2800" dirty="0"/>
          </a:p>
        </p:txBody>
      </p:sp>
      <p:sp>
        <p:nvSpPr>
          <p:cNvPr id="4" name="Text 1"/>
          <p:cNvSpPr txBox="1"/>
          <p:nvPr/>
        </p:nvSpPr>
        <p:spPr>
          <a:xfrm>
            <a:off x="457200" y="1097280"/>
            <a:ext cx="4023360" cy="3383280"/>
          </a:xfrm>
          <a:prstGeom prst="roundRect">
            <a:avLst>
              <a:gd name="adj" fmla="val 2162"/>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700" b="1" dirty="0">
                <a:solidFill>
                  <a:schemeClr val="tx1"/>
                </a:solidFill>
              </a:rPr>
              <a:t>Benchmark</a:t>
            </a:r>
            <a:endParaRPr lang="en-US" sz="1700" dirty="0"/>
          </a:p>
          <a:p>
            <a:pPr algn="l" indent="0" marL="0">
              <a:buNone/>
            </a:pPr>
            <a:r>
              <a:rPr lang="en-US" sz="1400" dirty="0">
                <a:solidFill>
                  <a:schemeClr val="tx1"/>
                </a:solidFill>
              </a:rPr>
              <a:t>9×9 Sudoku, digital grid</a:t>
            </a:r>
            <a:endParaRPr lang="en-US" sz="1700" dirty="0"/>
          </a:p>
          <a:p>
            <a:pPr algn="l" indent="0" marL="0">
              <a:buNone/>
            </a:pPr>
            <a:r>
              <a:rPr lang="en-US" sz="1400" dirty="0">
                <a:solidFill>
                  <a:schemeClr val="tx1"/>
                </a:solidFill>
              </a:rPr>
              <a:t>Official benchmark: 8 puzzles</a:t>
            </a:r>
            <a:endParaRPr lang="en-US" sz="1700" dirty="0"/>
          </a:p>
          <a:p>
            <a:pPr algn="l" indent="0" marL="0">
              <a:buNone/>
            </a:pPr>
            <a:r>
              <a:rPr lang="en-US" sz="1400" dirty="0">
                <a:solidFill>
                  <a:schemeClr val="tx1"/>
                </a:solidFill>
              </a:rPr>
              <a:t>20 to 65 empty cells</a:t>
            </a:r>
            <a:endParaRPr lang="en-US" sz="1700" dirty="0"/>
          </a:p>
          <a:p>
            <a:pPr algn="l" indent="0" marL="0">
              <a:buNone/>
            </a:pPr>
            <a:r>
              <a:rPr lang="en-US" sz="1400" dirty="0">
                <a:solidFill>
                  <a:schemeClr val="tx1"/>
                </a:solidFill>
              </a:rPr>
              <a:t>Four solver configurations</a:t>
            </a:r>
            <a:endParaRPr lang="en-US" sz="1700" dirty="0"/>
          </a:p>
          <a:p>
            <a:pPr algn="l" indent="0" marL="0">
              <a:buNone/>
            </a:pPr>
            <a:r>
              <a:rPr lang="en-US" sz="1400" dirty="0">
                <a:solidFill>
                  <a:schemeClr val="tx1"/>
                </a:solidFill>
              </a:rPr>
              <a:t>Min-Conflicts budget: 1000 steps, 1 restart</a:t>
            </a:r>
            <a:endParaRPr lang="en-US" sz="1700" dirty="0"/>
          </a:p>
          <a:p>
            <a:pPr algn="l" indent="0" marL="0">
              <a:buNone/>
            </a:pPr>
            <a:r>
              <a:rPr lang="en-US" sz="1400" dirty="0">
                <a:solidFill>
                  <a:schemeClr val="tx1"/>
                </a:solidFill>
              </a:rPr>
              <a:t>Python 3.13.14</a:t>
            </a:r>
            <a:endParaRPr lang="en-US" sz="1700" dirty="0"/>
          </a:p>
        </p:txBody>
      </p:sp>
      <p:sp>
        <p:nvSpPr>
          <p:cNvPr id="5" name="Text 2"/>
          <p:cNvSpPr txBox="1"/>
          <p:nvPr/>
        </p:nvSpPr>
        <p:spPr>
          <a:xfrm>
            <a:off x="4663440" y="1097280"/>
            <a:ext cx="4023360" cy="3383280"/>
          </a:xfrm>
          <a:prstGeom prst="roundRect">
            <a:avLst>
              <a:gd name="adj" fmla="val 2162"/>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1700" b="1" dirty="0">
                <a:solidFill>
                  <a:schemeClr val="tx1"/>
                </a:solidFill>
              </a:rPr>
              <a:t>Metrics</a:t>
            </a:r>
            <a:endParaRPr lang="en-US" sz="1700" dirty="0"/>
          </a:p>
          <a:p>
            <a:pPr algn="l" indent="0" marL="0">
              <a:buNone/>
            </a:pPr>
            <a:r>
              <a:rPr lang="en-US" sz="1400" dirty="0">
                <a:solidFill>
                  <a:schemeClr val="tx1"/>
                </a:solidFill>
              </a:rPr>
              <a:t>Solving time</a:t>
            </a:r>
            <a:endParaRPr lang="en-US" sz="1700" dirty="0"/>
          </a:p>
          <a:p>
            <a:pPr algn="l" indent="0" marL="0">
              <a:buNone/>
            </a:pPr>
            <a:r>
              <a:rPr lang="en-US" sz="1400" dirty="0">
                <a:solidFill>
                  <a:schemeClr val="tx1"/>
                </a:solidFill>
              </a:rPr>
              <a:t>Search nodes</a:t>
            </a:r>
            <a:endParaRPr lang="en-US" sz="1700" dirty="0"/>
          </a:p>
          <a:p>
            <a:pPr algn="l" indent="0" marL="0">
              <a:buNone/>
            </a:pPr>
            <a:r>
              <a:rPr lang="en-US" sz="1400" dirty="0">
                <a:solidFill>
                  <a:schemeClr val="tx1"/>
                </a:solidFill>
              </a:rPr>
              <a:t>Backtracks</a:t>
            </a:r>
            <a:endParaRPr lang="en-US" sz="1700" dirty="0"/>
          </a:p>
          <a:p>
            <a:pPr algn="l" indent="0" marL="0">
              <a:buNone/>
            </a:pPr>
            <a:r>
              <a:rPr lang="en-US" sz="1400" dirty="0">
                <a:solidFill>
                  <a:schemeClr val="tx1"/>
                </a:solidFill>
              </a:rPr>
              <a:t>Conflicts</a:t>
            </a:r>
            <a:endParaRPr lang="en-US" sz="1700" dirty="0"/>
          </a:p>
          <a:p>
            <a:pPr algn="l" indent="0" marL="0">
              <a:buNone/>
            </a:pPr>
            <a:r>
              <a:rPr lang="en-US" sz="1400" dirty="0">
                <a:solidFill>
                  <a:schemeClr val="tx1"/>
                </a:solidFill>
              </a:rPr>
              <a:t>Strategy switches</a:t>
            </a:r>
            <a:endParaRPr lang="en-US" sz="1700" dirty="0"/>
          </a:p>
          <a:p>
            <a:pPr algn="l" indent="0" marL="0">
              <a:buNone/>
            </a:pPr>
            <a:r>
              <a:rPr lang="en-US" sz="1400" dirty="0">
                <a:solidFill>
                  <a:schemeClr val="tx1"/>
                </a:solidFill>
              </a:rPr>
              <a:t>Success rate</a:t>
            </a:r>
            <a:endParaRPr lang="en-US" sz="1700" dirty="0"/>
          </a:p>
        </p:txBody>
      </p:sp>
      <p:sp>
        <p:nvSpPr>
          <p:cNvPr id="25" name="Slide Number Placeholder 0"/>
          <p:cNvSpPr>
            <a:spLocks noGrp="1"/>
          </p:cNvSpPr>
          <p:nvPr>
            <p:ph type="sldNum" sz="quarter" idx="4294967295"/>
          </p:nvPr>
        </p:nvSpPr>
        <p:spPr>
          <a:xfrm>
            <a:off x="841248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Georgia" pitchFamily="34" charset="0"/>
                <a:ea typeface="Georgia" pitchFamily="34" charset="-122"/>
                <a:cs typeface="Georgia" pitchFamily="34" charset="-120"/>
              </a:rPr>
              <a:t>Results: Official 8-Puzzle Benchmark</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754880" cy="914400"/>
        </p:xfrm>
        <a:graphic>
          <a:graphicData uri="http://schemas.openxmlformats.org/drawingml/2006/table">
            <a:tbl>
              <a:tblPr/>
              <a:tblGrid>
                <a:gridCol w="1828800"/>
                <a:gridCol w="822960"/>
                <a:gridCol w="1097280"/>
                <a:gridCol w="1005840"/>
              </a:tblGrid>
              <a:tr h="384048">
                <a:tc>
                  <a:txBody>
                    <a:bodyPr/>
                    <a:lstStyle/>
                    <a:p>
                      <a:pPr indent="0" marL="0">
                        <a:buNone/>
                      </a:pPr>
                      <a:r>
                        <a:rPr lang="en-US" sz="1200" b="1" dirty="0">
                          <a:solidFill>
                            <a:schemeClr val="bg1"/>
                          </a:solidFill>
                        </a:rPr>
                        <a:t>Solver</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Success</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Avg time (s)</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Avg nodes</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384048">
                <a:tc>
                  <a:txBody>
                    <a:bodyPr/>
                    <a:lstStyle/>
                    <a:p>
                      <a:pPr algn="l" indent="0" marL="0">
                        <a:buNone/>
                      </a:pPr>
                      <a:r>
                        <a:rPr lang="en-US" sz="1200" dirty="0">
                          <a:solidFill>
                            <a:schemeClr val="tx1"/>
                          </a:solidFill>
                        </a:rPr>
                        <a:t>Constraint Propagation</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37.5%</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0.001053</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0.00</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rPr>
                        <a:t>MRV + Backtracking</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100%</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0.017572</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48.62</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rPr>
                        <a:t>Min-Conflicts</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0.647065</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1000.00</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84048">
                <a:tc>
                  <a:txBody>
                    <a:bodyPr/>
                    <a:lstStyle/>
                    <a:p>
                      <a:pPr algn="l" indent="0" marL="0">
                        <a:buNone/>
                      </a:pPr>
                      <a:r>
                        <a:rPr lang="en-US" sz="1200" b="1" dirty="0">
                          <a:solidFill>
                            <a:schemeClr val="tx1"/>
                          </a:solidFill>
                        </a:rPr>
                        <a:t>Adaptive</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100%</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0.027370</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54.88</a:t>
                      </a:r>
                      <a:endParaRPr lang="en-US" sz="12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pic>
        <p:nvPicPr>
          <p:cNvPr id="5" name="Image 0" descr="success_rate.png">    </p:cNvPr>
          <p:cNvPicPr>
            <a:picLocks noChangeAspect="1"/>
          </p:cNvPicPr>
          <p:nvPr/>
        </p:nvPicPr>
        <p:blipFill>
          <a:blip r:embed="rId1"/>
          <a:stretch>
            <a:fillRect/>
          </a:stretch>
        </p:blipFill>
        <p:spPr>
          <a:xfrm>
            <a:off x="5394960" y="1097280"/>
            <a:ext cx="3291840" cy="2194560"/>
          </a:xfrm>
          <a:prstGeom prst="rect">
            <a:avLst/>
          </a:prstGeom>
        </p:spPr>
      </p:pic>
      <p:sp>
        <p:nvSpPr>
          <p:cNvPr id="6" name="Text 1"/>
          <p:cNvSpPr txBox="1"/>
          <p:nvPr/>
        </p:nvSpPr>
        <p:spPr>
          <a:xfrm>
            <a:off x="457200" y="3429000"/>
            <a:ext cx="8229600" cy="685800"/>
          </a:xfrm>
          <a:prstGeom prst="roundRect">
            <a:avLst>
              <a:gd name="adj" fmla="val 10667"/>
            </a:avLst>
          </a:prstGeom>
          <a:solidFill>
            <a:schemeClr val="bg1"/>
          </a:solidFill>
          <a:ln w="12700">
            <a:solidFill>
              <a:schemeClr val="accent2"/>
            </a:solidFill>
          </a:ln>
        </p:spPr>
        <p:txBody>
          <a:bodyPr wrap="square" lIns="101600" tIns="101600" rIns="101600" bIns="101600" rtlCol="0" anchor="ctr"/>
          <a:lstStyle/>
          <a:p>
            <a:pPr algn="l" indent="0" marL="0">
              <a:buNone/>
            </a:pPr>
            <a:r>
              <a:rPr lang="en-US" sz="1400" dirty="0">
                <a:solidFill>
                  <a:schemeClr val="tx1"/>
                </a:solidFill>
              </a:rPr>
              <a:t>Adaptive matches MRV + Backtracking on success (8/8) but carries additional overhead; the results do not show it is faster.</a:t>
            </a:r>
            <a:endParaRPr lang="en-US" sz="1400" dirty="0"/>
          </a:p>
        </p:txBody>
      </p:sp>
      <p:sp>
        <p:nvSpPr>
          <p:cNvPr id="7" name="Text 2"/>
          <p:cNvSpPr txBox="1"/>
          <p:nvPr/>
        </p:nvSpPr>
        <p:spPr>
          <a:xfrm>
            <a:off x="457200" y="4251960"/>
            <a:ext cx="8229600" cy="274320"/>
          </a:xfrm>
          <a:prstGeom prst="rect">
            <a:avLst/>
          </a:prstGeom>
          <a:noFill/>
          <a:ln/>
        </p:spPr>
        <p:txBody>
          <a:bodyPr wrap="square" lIns="0" tIns="0" rIns="0" bIns="0" rtlCol="0" anchor="ctr"/>
          <a:lstStyle/>
          <a:p>
            <a:pPr indent="0" marL="0">
              <a:buNone/>
            </a:pPr>
            <a:r>
              <a:rPr lang="en-US" sz="1100" dirty="0">
                <a:solidFill>
                  <a:schemeClr val="accent3"/>
                </a:solidFill>
              </a:rPr>
              <a:t>Source: results/tables/solver_summary.csv (8 puzzles, one run each)</a:t>
            </a:r>
            <a:endParaRPr lang="en-US" sz="1100" dirty="0"/>
          </a:p>
        </p:txBody>
      </p:sp>
      <p:sp>
        <p:nvSpPr>
          <p:cNvPr id="25" name="Slide Number Placeholder 0"/>
          <p:cNvSpPr>
            <a:spLocks noGrp="1"/>
          </p:cNvSpPr>
          <p:nvPr>
            <p:ph type="sldNum" sz="quarter" idx="4294967295"/>
          </p:nvPr>
        </p:nvSpPr>
        <p:spPr>
          <a:xfrm>
            <a:off x="841248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Georgia" pitchFamily="34" charset="0"/>
                <a:ea typeface="Georgia" pitchFamily="34" charset="-122"/>
                <a:cs typeface="Georgia" pitchFamily="34" charset="-120"/>
              </a:rPr>
              <a:t>Demonstration: Terminal Workflow</a:t>
            </a:r>
            <a:endParaRPr lang="en-US" sz="2800" dirty="0"/>
          </a:p>
        </p:txBody>
      </p:sp>
      <p:sp>
        <p:nvSpPr>
          <p:cNvPr id="4" name="Text 1"/>
          <p:cNvSpPr txBox="1"/>
          <p:nvPr/>
        </p:nvSpPr>
        <p:spPr>
          <a:xfrm>
            <a:off x="457200" y="1097280"/>
            <a:ext cx="1828800" cy="731520"/>
          </a:xfrm>
          <a:prstGeom prst="roundRect">
            <a:avLst>
              <a:gd name="adj" fmla="val 10000"/>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300" dirty="0">
                <a:solidFill>
                  <a:schemeClr val="tx1"/>
                </a:solidFill>
              </a:rPr>
              <a:t>User enters 9×9 Sudoku</a:t>
            </a:r>
            <a:endParaRPr lang="en-US" sz="1300" dirty="0"/>
          </a:p>
        </p:txBody>
      </p:sp>
      <p:sp>
        <p:nvSpPr>
          <p:cNvPr id="5" name="Shape 2"/>
          <p:cNvSpPr/>
          <p:nvPr/>
        </p:nvSpPr>
        <p:spPr>
          <a:xfrm>
            <a:off x="2286000" y="1463040"/>
            <a:ext cx="320040" cy="0"/>
          </a:xfrm>
          <a:prstGeom prst="line">
            <a:avLst/>
          </a:prstGeom>
          <a:noFill/>
          <a:ln w="19050">
            <a:solidFill>
              <a:schemeClr val="accent3"/>
            </a:solidFill>
            <a:prstDash val="solid"/>
            <a:tailEnd type="triangle"/>
          </a:ln>
        </p:spPr>
      </p:sp>
      <p:sp>
        <p:nvSpPr>
          <p:cNvPr id="6" name="Text 3"/>
          <p:cNvSpPr txBox="1"/>
          <p:nvPr/>
        </p:nvSpPr>
        <p:spPr>
          <a:xfrm>
            <a:off x="2606040" y="1097280"/>
            <a:ext cx="1828800" cy="731520"/>
          </a:xfrm>
          <a:prstGeom prst="roundRect">
            <a:avLst>
              <a:gd name="adj" fmla="val 10000"/>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300" dirty="0">
                <a:solidFill>
                  <a:schemeClr val="tx1"/>
                </a:solidFill>
              </a:rPr>
              <a:t>Validation</a:t>
            </a:r>
            <a:endParaRPr lang="en-US" sz="1300" dirty="0"/>
          </a:p>
        </p:txBody>
      </p:sp>
      <p:sp>
        <p:nvSpPr>
          <p:cNvPr id="7" name="Shape 4"/>
          <p:cNvSpPr/>
          <p:nvPr/>
        </p:nvSpPr>
        <p:spPr>
          <a:xfrm>
            <a:off x="4434840" y="1463040"/>
            <a:ext cx="320040" cy="0"/>
          </a:xfrm>
          <a:prstGeom prst="line">
            <a:avLst/>
          </a:prstGeom>
          <a:noFill/>
          <a:ln w="19050">
            <a:solidFill>
              <a:schemeClr val="accent3"/>
            </a:solidFill>
            <a:prstDash val="solid"/>
            <a:tailEnd type="triangle"/>
          </a:ln>
        </p:spPr>
      </p:sp>
      <p:sp>
        <p:nvSpPr>
          <p:cNvPr id="8" name="Text 5"/>
          <p:cNvSpPr txBox="1"/>
          <p:nvPr/>
        </p:nvSpPr>
        <p:spPr>
          <a:xfrm>
            <a:off x="4754880" y="1097280"/>
            <a:ext cx="1828800" cy="731520"/>
          </a:xfrm>
          <a:prstGeom prst="roundRect">
            <a:avLst>
              <a:gd name="adj" fmla="val 10000"/>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300" dirty="0">
                <a:solidFill>
                  <a:schemeClr val="tx1"/>
                </a:solidFill>
              </a:rPr>
              <a:t>Puzzle analysis</a:t>
            </a:r>
            <a:endParaRPr lang="en-US" sz="1300" dirty="0"/>
          </a:p>
        </p:txBody>
      </p:sp>
      <p:sp>
        <p:nvSpPr>
          <p:cNvPr id="9" name="Shape 6"/>
          <p:cNvSpPr/>
          <p:nvPr/>
        </p:nvSpPr>
        <p:spPr>
          <a:xfrm>
            <a:off x="6583680" y="1463040"/>
            <a:ext cx="320040" cy="0"/>
          </a:xfrm>
          <a:prstGeom prst="line">
            <a:avLst/>
          </a:prstGeom>
          <a:noFill/>
          <a:ln w="19050">
            <a:solidFill>
              <a:schemeClr val="accent3"/>
            </a:solidFill>
            <a:prstDash val="solid"/>
            <a:tailEnd type="triangle"/>
          </a:ln>
        </p:spPr>
      </p:sp>
      <p:sp>
        <p:nvSpPr>
          <p:cNvPr id="10" name="Text 7"/>
          <p:cNvSpPr txBox="1"/>
          <p:nvPr/>
        </p:nvSpPr>
        <p:spPr>
          <a:xfrm>
            <a:off x="6903720" y="1097280"/>
            <a:ext cx="1828800" cy="731520"/>
          </a:xfrm>
          <a:prstGeom prst="roundRect">
            <a:avLst>
              <a:gd name="adj" fmla="val 10000"/>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300" dirty="0">
                <a:solidFill>
                  <a:schemeClr val="tx1"/>
                </a:solidFill>
              </a:rPr>
              <a:t>Adaptive strategy</a:t>
            </a:r>
            <a:endParaRPr lang="en-US" sz="1300" dirty="0"/>
          </a:p>
        </p:txBody>
      </p:sp>
      <p:sp>
        <p:nvSpPr>
          <p:cNvPr id="11" name="Text 8"/>
          <p:cNvSpPr txBox="1"/>
          <p:nvPr/>
        </p:nvSpPr>
        <p:spPr>
          <a:xfrm>
            <a:off x="457200" y="2240280"/>
            <a:ext cx="1828800" cy="731520"/>
          </a:xfrm>
          <a:prstGeom prst="roundRect">
            <a:avLst>
              <a:gd name="adj" fmla="val 10000"/>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300" dirty="0">
                <a:solidFill>
                  <a:schemeClr val="tx1"/>
                </a:solidFill>
              </a:rPr>
              <a:t>Switching if required</a:t>
            </a:r>
            <a:endParaRPr lang="en-US" sz="1300" dirty="0"/>
          </a:p>
        </p:txBody>
      </p:sp>
      <p:sp>
        <p:nvSpPr>
          <p:cNvPr id="12" name="Shape 9"/>
          <p:cNvSpPr/>
          <p:nvPr/>
        </p:nvSpPr>
        <p:spPr>
          <a:xfrm>
            <a:off x="2286000" y="2606040"/>
            <a:ext cx="320040" cy="0"/>
          </a:xfrm>
          <a:prstGeom prst="line">
            <a:avLst/>
          </a:prstGeom>
          <a:noFill/>
          <a:ln w="19050">
            <a:solidFill>
              <a:schemeClr val="accent3"/>
            </a:solidFill>
            <a:prstDash val="solid"/>
            <a:tailEnd type="triangle"/>
          </a:ln>
        </p:spPr>
      </p:sp>
      <p:sp>
        <p:nvSpPr>
          <p:cNvPr id="13" name="Text 10"/>
          <p:cNvSpPr txBox="1"/>
          <p:nvPr/>
        </p:nvSpPr>
        <p:spPr>
          <a:xfrm>
            <a:off x="2606040" y="2240280"/>
            <a:ext cx="1828800" cy="731520"/>
          </a:xfrm>
          <a:prstGeom prst="roundRect">
            <a:avLst>
              <a:gd name="adj" fmla="val 10000"/>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300" dirty="0">
                <a:solidFill>
                  <a:schemeClr val="tx1"/>
                </a:solidFill>
              </a:rPr>
              <a:t>Solution</a:t>
            </a:r>
            <a:endParaRPr lang="en-US" sz="1300" dirty="0"/>
          </a:p>
        </p:txBody>
      </p:sp>
      <p:sp>
        <p:nvSpPr>
          <p:cNvPr id="14" name="Shape 11"/>
          <p:cNvSpPr/>
          <p:nvPr/>
        </p:nvSpPr>
        <p:spPr>
          <a:xfrm>
            <a:off x="4434840" y="2606040"/>
            <a:ext cx="320040" cy="0"/>
          </a:xfrm>
          <a:prstGeom prst="line">
            <a:avLst/>
          </a:prstGeom>
          <a:noFill/>
          <a:ln w="19050">
            <a:solidFill>
              <a:schemeClr val="accent3"/>
            </a:solidFill>
            <a:prstDash val="solid"/>
            <a:tailEnd type="triangle"/>
          </a:ln>
        </p:spPr>
      </p:sp>
      <p:sp>
        <p:nvSpPr>
          <p:cNvPr id="15" name="Text 12"/>
          <p:cNvSpPr txBox="1"/>
          <p:nvPr/>
        </p:nvSpPr>
        <p:spPr>
          <a:xfrm>
            <a:off x="4754880" y="2240280"/>
            <a:ext cx="1828800" cy="731520"/>
          </a:xfrm>
          <a:prstGeom prst="roundRect">
            <a:avLst>
              <a:gd name="adj" fmla="val 10000"/>
            </a:avLst>
          </a:prstGeom>
          <a:solidFill>
            <a:schemeClr val="bg1"/>
          </a:solidFill>
          <a:ln w="12700">
            <a:solidFill>
              <a:schemeClr val="accent6"/>
            </a:solidFill>
          </a:ln>
        </p:spPr>
        <p:txBody>
          <a:bodyPr wrap="square" lIns="101600" tIns="101600" rIns="101600" bIns="101600" rtlCol="0" anchor="ctr"/>
          <a:lstStyle/>
          <a:p>
            <a:pPr algn="ctr" indent="0" marL="0">
              <a:buNone/>
            </a:pPr>
            <a:r>
              <a:rPr lang="en-US" sz="1300" dirty="0">
                <a:solidFill>
                  <a:schemeClr val="tx1"/>
                </a:solidFill>
              </a:rPr>
              <a:t>Performance metrics</a:t>
            </a:r>
            <a:endParaRPr lang="en-US" sz="1300" dirty="0"/>
          </a:p>
        </p:txBody>
      </p:sp>
      <p:sp>
        <p:nvSpPr>
          <p:cNvPr id="16" name="Text 13"/>
          <p:cNvSpPr txBox="1"/>
          <p:nvPr/>
        </p:nvSpPr>
        <p:spPr>
          <a:xfrm>
            <a:off x="457200" y="3566160"/>
            <a:ext cx="8229600" cy="868680"/>
          </a:xfrm>
          <a:prstGeom prst="roundRect">
            <a:avLst>
              <a:gd name="adj" fmla="val 8421"/>
            </a:avLst>
          </a:prstGeom>
          <a:solidFill>
            <a:schemeClr val="bg1"/>
          </a:solidFill>
          <a:ln w="12700">
            <a:solidFill>
              <a:schemeClr val="accent2"/>
            </a:solidFill>
          </a:ln>
        </p:spPr>
        <p:txBody>
          <a:bodyPr wrap="square" lIns="101600" tIns="101600" rIns="101600" bIns="101600" rtlCol="0" anchor="ctr"/>
          <a:lstStyle/>
          <a:p>
            <a:pPr algn="l" indent="0" marL="0">
              <a:buNone/>
            </a:pPr>
            <a:r>
              <a:rPr lang="en-US" sz="1400" b="1" dirty="0">
                <a:solidFill>
                  <a:schemeClr val="tx1"/>
                </a:solidFill>
              </a:rPr>
              <a:t>P9: additional demonstration / testing puzzle</a:t>
            </a:r>
            <a:endParaRPr lang="en-US" sz="1400" dirty="0"/>
          </a:p>
          <a:p>
            <a:pPr algn="l" indent="0" marL="0">
              <a:buNone/>
            </a:pPr>
            <a:r>
              <a:rPr lang="en-US" sz="1300" dirty="0">
                <a:solidFill>
                  <a:schemeClr val="tx1"/>
                </a:solidFill>
              </a:rPr>
              <a:t>Not part of the official 8-puzzle benchmark; no benchmark results are reported for it.</a:t>
            </a:r>
            <a:endParaRPr lang="en-US" sz="1400" dirty="0"/>
          </a:p>
        </p:txBody>
      </p:sp>
      <p:sp>
        <p:nvSpPr>
          <p:cNvPr id="25" name="Slide Number Placeholder 0"/>
          <p:cNvSpPr>
            <a:spLocks noGrp="1"/>
          </p:cNvSpPr>
          <p:nvPr>
            <p:ph type="sldNum" sz="quarter" idx="4294967295"/>
          </p:nvPr>
        </p:nvSpPr>
        <p:spPr>
          <a:xfrm>
            <a:off x="841248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Georgia" pitchFamily="34" charset="0"/>
                <a:ea typeface="Georgia" pitchFamily="34" charset="-122"/>
                <a:cs typeface="Georgia" pitchFamily="34" charset="-120"/>
              </a:rPr>
              <a:t>Conclusion &amp; Future Work</a:t>
            </a:r>
            <a:endParaRPr lang="en-US" sz="2800" dirty="0"/>
          </a:p>
        </p:txBody>
      </p:sp>
      <p:sp>
        <p:nvSpPr>
          <p:cNvPr id="4" name="Text 1"/>
          <p:cNvSpPr txBox="1"/>
          <p:nvPr/>
        </p:nvSpPr>
        <p:spPr>
          <a:xfrm>
            <a:off x="457200" y="1097280"/>
            <a:ext cx="4206240" cy="3566160"/>
          </a:xfrm>
          <a:prstGeom prst="roundRect">
            <a:avLst>
              <a:gd name="adj" fmla="val 2051"/>
            </a:avLst>
          </a:prstGeom>
          <a:solidFill>
            <a:schemeClr val="bg1"/>
          </a:solidFill>
          <a:ln w="12700">
            <a:solidFill>
              <a:schemeClr val="accent6"/>
            </a:solidFill>
          </a:ln>
        </p:spPr>
        <p:txBody>
          <a:bodyPr wrap="square" lIns="101600" tIns="101600" rIns="101600" bIns="101600" rtlCol="0" anchor="ctr"/>
          <a:lstStyle/>
          <a:p>
            <a:pPr algn="l" indent="0" marL="0">
              <a:spcAft>
                <a:spcPts val="600"/>
              </a:spcAft>
              <a:buNone/>
            </a:pPr>
            <a:r>
              <a:rPr lang="en-US" sz="1700" b="1" dirty="0">
                <a:solidFill>
                  <a:schemeClr val="tx1"/>
                </a:solidFill>
              </a:rPr>
              <a:t>Conclusion</a:t>
            </a:r>
            <a:endParaRPr lang="en-US" sz="1700" dirty="0"/>
          </a:p>
          <a:p>
            <a:pPr algn="l" indent="0" marL="0">
              <a:spcAft>
                <a:spcPts val="600"/>
              </a:spcAft>
              <a:buNone/>
            </a:pPr>
            <a:r>
              <a:rPr lang="en-US" sz="1300" dirty="0">
                <a:solidFill>
                  <a:schemeClr val="tx1"/>
                </a:solidFill>
              </a:rPr>
              <a:t>Combines multiple AI techniques in one adaptive framework</a:t>
            </a:r>
            <a:endParaRPr lang="en-US" sz="1700" dirty="0"/>
          </a:p>
          <a:p>
            <a:pPr algn="l" indent="0" marL="0">
              <a:spcAft>
                <a:spcPts val="600"/>
              </a:spcAft>
              <a:buNone/>
            </a:pPr>
            <a:r>
              <a:rPr lang="en-US" sz="1300" dirty="0">
                <a:solidFill>
                  <a:schemeClr val="tx1"/>
                </a:solidFill>
              </a:rPr>
              <a:t>Adaptive solved 8/8 benchmark puzzles; MRV + Backtracking also 8/8</a:t>
            </a:r>
            <a:endParaRPr lang="en-US" sz="1700" dirty="0"/>
          </a:p>
          <a:p>
            <a:pPr algn="l" indent="0" marL="0">
              <a:spcAft>
                <a:spcPts val="600"/>
              </a:spcAft>
              <a:buNone/>
            </a:pPr>
            <a:r>
              <a:rPr lang="en-US" sz="1300" dirty="0">
                <a:solidFill>
                  <a:schemeClr val="tx1"/>
                </a:solidFill>
              </a:rPr>
              <a:t>Actual strategy switching demonstrated (P7)</a:t>
            </a:r>
            <a:endParaRPr lang="en-US" sz="1700" dirty="0"/>
          </a:p>
          <a:p>
            <a:pPr algn="l" indent="0" marL="0">
              <a:spcAft>
                <a:spcPts val="600"/>
              </a:spcAft>
              <a:buNone/>
            </a:pPr>
            <a:r>
              <a:rPr lang="en-US" sz="1300" dirty="0">
                <a:solidFill>
                  <a:schemeClr val="tx1"/>
                </a:solidFill>
              </a:rPr>
              <a:t>Adaptive introduces computational overhead</a:t>
            </a:r>
            <a:endParaRPr lang="en-US" sz="1700" dirty="0"/>
          </a:p>
          <a:p>
            <a:pPr algn="l" indent="0" marL="0">
              <a:spcAft>
                <a:spcPts val="600"/>
              </a:spcAft>
              <a:buNone/>
            </a:pPr>
            <a:r>
              <a:rPr lang="en-US" sz="1300" dirty="0">
                <a:solidFill>
                  <a:schemeClr val="tx1"/>
                </a:solidFill>
              </a:rPr>
              <a:t>Contribution: the framework, not a new Sudoku algorithm</a:t>
            </a:r>
            <a:endParaRPr lang="en-US" sz="1700" dirty="0"/>
          </a:p>
        </p:txBody>
      </p:sp>
      <p:sp>
        <p:nvSpPr>
          <p:cNvPr id="5" name="Text 2"/>
          <p:cNvSpPr txBox="1"/>
          <p:nvPr/>
        </p:nvSpPr>
        <p:spPr>
          <a:xfrm>
            <a:off x="4846320" y="1097280"/>
            <a:ext cx="3840480" cy="3566160"/>
          </a:xfrm>
          <a:prstGeom prst="roundRect">
            <a:avLst>
              <a:gd name="adj" fmla="val 2051"/>
            </a:avLst>
          </a:prstGeom>
          <a:solidFill>
            <a:schemeClr val="bg1"/>
          </a:solidFill>
          <a:ln w="12700">
            <a:solidFill>
              <a:schemeClr val="accent1"/>
            </a:solidFill>
          </a:ln>
        </p:spPr>
        <p:txBody>
          <a:bodyPr wrap="square" lIns="101600" tIns="101600" rIns="101600" bIns="101600" rtlCol="0" anchor="ctr"/>
          <a:lstStyle/>
          <a:p>
            <a:pPr algn="l" indent="0" marL="0">
              <a:buNone/>
            </a:pPr>
            <a:r>
              <a:rPr lang="en-US" sz="1700" b="1" dirty="0">
                <a:solidFill>
                  <a:schemeClr val="tx1"/>
                </a:solidFill>
              </a:rPr>
              <a:t>Future work (not implemented)</a:t>
            </a:r>
            <a:endParaRPr lang="en-US" sz="1700" dirty="0"/>
          </a:p>
          <a:p>
            <a:pPr algn="l" indent="0" marL="0">
              <a:buNone/>
            </a:pPr>
            <a:r>
              <a:rPr lang="en-US" sz="1300" dirty="0">
                <a:solidFill>
                  <a:schemeClr val="tx1"/>
                </a:solidFill>
              </a:rPr>
              <a:t>Improved strategy selection</a:t>
            </a:r>
            <a:endParaRPr lang="en-US" sz="1700" dirty="0"/>
          </a:p>
          <a:p>
            <a:pPr algn="l" indent="0" marL="0">
              <a:buNone/>
            </a:pPr>
            <a:r>
              <a:rPr lang="en-US" sz="1300" dirty="0">
                <a:solidFill>
                  <a:schemeClr val="tx1"/>
                </a:solidFill>
              </a:rPr>
              <a:t>More solving algorithms</a:t>
            </a:r>
            <a:endParaRPr lang="en-US" sz="1700" dirty="0"/>
          </a:p>
          <a:p>
            <a:pPr algn="l" indent="0" marL="0">
              <a:buNone/>
            </a:pPr>
            <a:r>
              <a:rPr lang="en-US" sz="1300" dirty="0">
                <a:solidFill>
                  <a:schemeClr val="tx1"/>
                </a:solidFill>
              </a:rPr>
              <a:t>Machine-learning-based selection</a:t>
            </a:r>
            <a:endParaRPr lang="en-US" sz="1700" dirty="0"/>
          </a:p>
          <a:p>
            <a:pPr algn="l" indent="0" marL="0">
              <a:buNone/>
            </a:pPr>
            <a:r>
              <a:rPr lang="en-US" sz="1300" dirty="0">
                <a:solidFill>
                  <a:schemeClr val="tx1"/>
                </a:solidFill>
              </a:rPr>
              <a:t>Improved dynamic switching</a:t>
            </a:r>
            <a:endParaRPr lang="en-US" sz="1700" dirty="0"/>
          </a:p>
          <a:p>
            <a:pPr algn="l" indent="0" marL="0">
              <a:buNone/>
            </a:pPr>
            <a:r>
              <a:rPr lang="en-US" sz="1300" dirty="0">
                <a:solidFill>
                  <a:schemeClr val="tx1"/>
                </a:solidFill>
              </a:rPr>
              <a:t>Larger benchmark dataset</a:t>
            </a:r>
            <a:endParaRPr lang="en-US" sz="1700" dirty="0"/>
          </a:p>
          <a:p>
            <a:pPr algn="l" indent="0" marL="0">
              <a:buNone/>
            </a:pPr>
            <a:r>
              <a:rPr lang="en-US" sz="1300" dirty="0">
                <a:solidFill>
                  <a:schemeClr val="tx1"/>
                </a:solidFill>
              </a:rPr>
              <a:t>Sudoku variants</a:t>
            </a:r>
            <a:endParaRPr lang="en-US" sz="1700" dirty="0"/>
          </a:p>
          <a:p>
            <a:pPr algn="l" indent="0" marL="0">
              <a:buNone/>
            </a:pPr>
            <a:r>
              <a:rPr lang="en-US" sz="1300" dirty="0">
                <a:solidFill>
                  <a:schemeClr val="tx1"/>
                </a:solidFill>
              </a:rPr>
              <a:t>Graphical user interface</a:t>
            </a:r>
            <a:endParaRPr lang="en-US" sz="1700" dirty="0"/>
          </a:p>
        </p:txBody>
      </p:sp>
      <p:sp>
        <p:nvSpPr>
          <p:cNvPr id="25" name="Slide Number Placeholder 0"/>
          <p:cNvSpPr>
            <a:spLocks noGrp="1"/>
          </p:cNvSpPr>
          <p:nvPr>
            <p:ph type="sldNum" sz="quarter" idx="4294967295"/>
          </p:nvPr>
        </p:nvSpPr>
        <p:spPr>
          <a:xfrm>
            <a:off x="841248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AdaptiveSudoku">
  <a:themeElements>
    <a:clrScheme name="AdaptiveSudoku">
      <a:dk1>
        <a:srgbClr val="1B2333"/>
      </a:dk1>
      <a:lt1>
        <a:srgbClr val="FFFFFF"/>
      </a:lt1>
      <a:dk2>
        <a:srgbClr val="1F2A44"/>
      </a:dk2>
      <a:lt2>
        <a:srgbClr val="F3F5F9"/>
      </a:lt2>
      <a:accent1>
        <a:srgbClr val="0F8B8D"/>
      </a:accent1>
      <a:accent2>
        <a:srgbClr val="E8A33D"/>
      </a:accent2>
      <a:accent3>
        <a:srgbClr val="5B6B8C"/>
      </a:accent3>
      <a:accent4>
        <a:srgbClr val="C8553D"/>
      </a:accent4>
      <a:accent5>
        <a:srgbClr val="2E7D5B"/>
      </a:accent5>
      <a:accent6>
        <a:srgbClr val="8A94A8"/>
      </a:accent6>
      <a:hlink>
        <a:srgbClr val="0F8B8D"/>
      </a:hlink>
      <a:folHlink>
        <a:srgbClr val="5B6B8C"/>
      </a:folHlink>
    </a:clrScheme>
    <a:fontScheme name="AdaptiveSudoku">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Sudoku Solver</dc:title>
  <dc:subject>PptxGenJS Presentation</dc:subject>
  <dc:creator>PptxGenJS</dc:creator>
  <cp:lastModifiedBy>PptxGenJS</cp:lastModifiedBy>
  <cp:revision>1</cp:revision>
  <dcterms:created xsi:type="dcterms:W3CDTF">2026-10-07T02:55:55Z</dcterms:created>
  <dcterms:modified xsi:type="dcterms:W3CDTF">2026-10-07T02:55:55Z</dcterms:modified>
</cp:coreProperties>
</file>